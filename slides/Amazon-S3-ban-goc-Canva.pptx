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8288000" cy="10287000"/>
  <p:notesSz cx="6858000" cy="9144000"/>
  <p:embeddedFontLst>
    <p:embeddedFont>
      <p:font typeface="Inter Bold" charset="1" panose="02000503000000020004"/>
      <p:regular r:id="rId34"/>
    </p:embeddedFont>
    <p:embeddedFont>
      <p:font typeface="Inter Medium" charset="1" panose="02000503000000020004"/>
      <p:regular r:id="rId35"/>
    </p:embeddedFont>
    <p:embeddedFont>
      <p:font typeface="Inter" charset="1" panose="02000503000000020004"/>
      <p:regular r:id="rId36"/>
    </p:embeddedFont>
    <p:embeddedFont>
      <p:font typeface="Inter Semi-Bold" charset="1" panose="02000503000000020004"/>
      <p:regular r:id="rId37"/>
    </p:embeddedFont>
    <p:embeddedFont>
      <p:font typeface="Inter Heavy" charset="1" panose="02000503000000020004"/>
      <p:regular r:id="rId38"/>
    </p:embeddedFont>
    <p:embeddedFont>
      <p:font typeface="Inter Semi-Bold Italics" charset="1" panose="02000503000000020004"/>
      <p:regular r:id="rId39"/>
    </p:embeddedFont>
    <p:embeddedFont>
      <p:font typeface="Inter Italics" charset="1" panose="02000503000000020004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png" Type="http://schemas.openxmlformats.org/officeDocument/2006/relationships/image"/><Relationship Id="rId12" Target="../media/image23.png" Type="http://schemas.openxmlformats.org/officeDocument/2006/relationships/image"/><Relationship Id="rId13" Target="../media/image24.png" Type="http://schemas.openxmlformats.org/officeDocument/2006/relationships/image"/><Relationship Id="rId14" Target="../media/image25.png" Type="http://schemas.openxmlformats.org/officeDocument/2006/relationships/image"/><Relationship Id="rId15" Target="../media/image26.png" Type="http://schemas.openxmlformats.org/officeDocument/2006/relationships/image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Relationship Id="rId8" Target="../media/image33.pn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png" Type="http://schemas.openxmlformats.org/officeDocument/2006/relationships/image"/><Relationship Id="rId4" Target="../media/image38.png" Type="http://schemas.openxmlformats.org/officeDocument/2006/relationships/image"/><Relationship Id="rId5" Target="../media/image39.png" Type="http://schemas.openxmlformats.org/officeDocument/2006/relationships/image"/><Relationship Id="rId6" Target="../media/image40.png" Type="http://schemas.openxmlformats.org/officeDocument/2006/relationships/image"/><Relationship Id="rId7" Target="../media/image4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png" Type="http://schemas.openxmlformats.org/officeDocument/2006/relationships/image"/><Relationship Id="rId4" Target="../media/image44.png" Type="http://schemas.openxmlformats.org/officeDocument/2006/relationships/image"/><Relationship Id="rId5" Target="../media/image45.png" Type="http://schemas.openxmlformats.org/officeDocument/2006/relationships/image"/><Relationship Id="rId6" Target="../media/image4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png" Type="http://schemas.openxmlformats.org/officeDocument/2006/relationships/image"/><Relationship Id="rId3" Target="../media/image51.png" Type="http://schemas.openxmlformats.org/officeDocument/2006/relationships/image"/><Relationship Id="rId4" Target="../media/image52.png" Type="http://schemas.openxmlformats.org/officeDocument/2006/relationships/image"/><Relationship Id="rId5" Target="../media/image5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4.png" Type="http://schemas.openxmlformats.org/officeDocument/2006/relationships/image"/><Relationship Id="rId3" Target="../media/image5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png" Type="http://schemas.openxmlformats.org/officeDocument/2006/relationships/image"/><Relationship Id="rId3" Target="../media/image57.png" Type="http://schemas.openxmlformats.org/officeDocument/2006/relationships/image"/><Relationship Id="rId4" Target="../media/image58.png" Type="http://schemas.openxmlformats.org/officeDocument/2006/relationships/image"/><Relationship Id="rId5" Target="../media/image5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1.png" Type="http://schemas.openxmlformats.org/officeDocument/2006/relationships/image"/><Relationship Id="rId3" Target="../media/image6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1.png" Type="http://schemas.openxmlformats.org/officeDocument/2006/relationships/image"/><Relationship Id="rId11" Target="../media/image72.png" Type="http://schemas.openxmlformats.org/officeDocument/2006/relationships/image"/><Relationship Id="rId12" Target="../media/image73.png" Type="http://schemas.openxmlformats.org/officeDocument/2006/relationships/image"/><Relationship Id="rId13" Target="../media/image74.png" Type="http://schemas.openxmlformats.org/officeDocument/2006/relationships/image"/><Relationship Id="rId14" Target="../media/image75.png" Type="http://schemas.openxmlformats.org/officeDocument/2006/relationships/image"/><Relationship Id="rId15" Target="../media/image76.png" Type="http://schemas.openxmlformats.org/officeDocument/2006/relationships/image"/><Relationship Id="rId16" Target="../media/image77.png" Type="http://schemas.openxmlformats.org/officeDocument/2006/relationships/image"/><Relationship Id="rId17" Target="../media/image78.png" Type="http://schemas.openxmlformats.org/officeDocument/2006/relationships/image"/><Relationship Id="rId2" Target="../media/image63.png" Type="http://schemas.openxmlformats.org/officeDocument/2006/relationships/image"/><Relationship Id="rId3" Target="../media/image64.png" Type="http://schemas.openxmlformats.org/officeDocument/2006/relationships/image"/><Relationship Id="rId4" Target="../media/image65.png" Type="http://schemas.openxmlformats.org/officeDocument/2006/relationships/image"/><Relationship Id="rId5" Target="../media/image66.png" Type="http://schemas.openxmlformats.org/officeDocument/2006/relationships/image"/><Relationship Id="rId6" Target="../media/image67.png" Type="http://schemas.openxmlformats.org/officeDocument/2006/relationships/image"/><Relationship Id="rId7" Target="../media/image68.png" Type="http://schemas.openxmlformats.org/officeDocument/2006/relationships/image"/><Relationship Id="rId8" Target="../media/image69.png" Type="http://schemas.openxmlformats.org/officeDocument/2006/relationships/image"/><Relationship Id="rId9" Target="../media/image70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9.png" Type="http://schemas.openxmlformats.org/officeDocument/2006/relationships/image"/><Relationship Id="rId3" Target="../media/image80.png" Type="http://schemas.openxmlformats.org/officeDocument/2006/relationships/image"/><Relationship Id="rId4" Target="../media/image81.png" Type="http://schemas.openxmlformats.org/officeDocument/2006/relationships/image"/><Relationship Id="rId5" Target="../media/image82.png" Type="http://schemas.openxmlformats.org/officeDocument/2006/relationships/image"/><Relationship Id="rId6" Target="../media/image83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4.png" Type="http://schemas.openxmlformats.org/officeDocument/2006/relationships/image"/><Relationship Id="rId3" Target="../media/image85.png" Type="http://schemas.openxmlformats.org/officeDocument/2006/relationships/image"/><Relationship Id="rId4" Target="../media/image86.png" Type="http://schemas.openxmlformats.org/officeDocument/2006/relationships/image"/><Relationship Id="rId5" Target="../media/image87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8.png" Type="http://schemas.openxmlformats.org/officeDocument/2006/relationships/image"/><Relationship Id="rId3" Target="../media/image89.png" Type="http://schemas.openxmlformats.org/officeDocument/2006/relationships/image"/><Relationship Id="rId4" Target="../media/image90.png" Type="http://schemas.openxmlformats.org/officeDocument/2006/relationships/image"/><Relationship Id="rId5" Target="../media/image91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2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3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4.png" Type="http://schemas.openxmlformats.org/officeDocument/2006/relationships/image"/><Relationship Id="rId3" Target="../media/image95.png" Type="http://schemas.openxmlformats.org/officeDocument/2006/relationships/image"/><Relationship Id="rId4" Target="../media/image96.png" Type="http://schemas.openxmlformats.org/officeDocument/2006/relationships/image"/><Relationship Id="rId5" Target="../media/image97.png" Type="http://schemas.openxmlformats.org/officeDocument/2006/relationships/image"/><Relationship Id="rId6" Target="../media/image98.png" Type="http://schemas.openxmlformats.org/officeDocument/2006/relationships/image"/><Relationship Id="rId7" Target="../media/image99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8.png" Type="http://schemas.openxmlformats.org/officeDocument/2006/relationships/image"/><Relationship Id="rId11" Target="../media/image109.png" Type="http://schemas.openxmlformats.org/officeDocument/2006/relationships/image"/><Relationship Id="rId12" Target="../media/image110.png" Type="http://schemas.openxmlformats.org/officeDocument/2006/relationships/image"/><Relationship Id="rId13" Target="../media/image111.png" Type="http://schemas.openxmlformats.org/officeDocument/2006/relationships/image"/><Relationship Id="rId14" Target="../media/image112.png" Type="http://schemas.openxmlformats.org/officeDocument/2006/relationships/image"/><Relationship Id="rId15" Target="../media/image113.png" Type="http://schemas.openxmlformats.org/officeDocument/2006/relationships/image"/><Relationship Id="rId16" Target="../media/image114.png" Type="http://schemas.openxmlformats.org/officeDocument/2006/relationships/image"/><Relationship Id="rId17" Target="../media/image115.png" Type="http://schemas.openxmlformats.org/officeDocument/2006/relationships/image"/><Relationship Id="rId18" Target="../media/image116.png" Type="http://schemas.openxmlformats.org/officeDocument/2006/relationships/image"/><Relationship Id="rId19" Target="../media/image117.png" Type="http://schemas.openxmlformats.org/officeDocument/2006/relationships/image"/><Relationship Id="rId2" Target="../media/image100.png" Type="http://schemas.openxmlformats.org/officeDocument/2006/relationships/image"/><Relationship Id="rId3" Target="../media/image101.png" Type="http://schemas.openxmlformats.org/officeDocument/2006/relationships/image"/><Relationship Id="rId4" Target="../media/image102.png" Type="http://schemas.openxmlformats.org/officeDocument/2006/relationships/image"/><Relationship Id="rId5" Target="../media/image103.png" Type="http://schemas.openxmlformats.org/officeDocument/2006/relationships/image"/><Relationship Id="rId6" Target="../media/image104.png" Type="http://schemas.openxmlformats.org/officeDocument/2006/relationships/image"/><Relationship Id="rId7" Target="../media/image105.png" Type="http://schemas.openxmlformats.org/officeDocument/2006/relationships/image"/><Relationship Id="rId8" Target="../media/image106.png" Type="http://schemas.openxmlformats.org/officeDocument/2006/relationships/image"/><Relationship Id="rId9" Target="../media/image107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8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9.png" Type="http://schemas.openxmlformats.org/officeDocument/2006/relationships/image"/><Relationship Id="rId3" Target="../media/image120.png" Type="http://schemas.openxmlformats.org/officeDocument/2006/relationships/image"/><Relationship Id="rId4" Target="../media/image121.png" Type="http://schemas.openxmlformats.org/officeDocument/2006/relationships/image"/><Relationship Id="rId5" Target="../media/image122.png" Type="http://schemas.openxmlformats.org/officeDocument/2006/relationships/image"/><Relationship Id="rId6" Target="../media/image123.png" Type="http://schemas.openxmlformats.org/officeDocument/2006/relationships/image"/><Relationship Id="rId7" Target="../media/image124.png" Type="http://schemas.openxmlformats.org/officeDocument/2006/relationships/image"/><Relationship Id="rId8" Target="../media/image125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4.png" Type="http://schemas.openxmlformats.org/officeDocument/2006/relationships/image"/><Relationship Id="rId2" Target="../media/image126.png" Type="http://schemas.openxmlformats.org/officeDocument/2006/relationships/image"/><Relationship Id="rId3" Target="../media/image127.png" Type="http://schemas.openxmlformats.org/officeDocument/2006/relationships/image"/><Relationship Id="rId4" Target="../media/image128.png" Type="http://schemas.openxmlformats.org/officeDocument/2006/relationships/image"/><Relationship Id="rId5" Target="../media/image129.png" Type="http://schemas.openxmlformats.org/officeDocument/2006/relationships/image"/><Relationship Id="rId6" Target="../media/image130.png" Type="http://schemas.openxmlformats.org/officeDocument/2006/relationships/image"/><Relationship Id="rId7" Target="../media/image131.png" Type="http://schemas.openxmlformats.org/officeDocument/2006/relationships/image"/><Relationship Id="rId8" Target="../media/image132.png" Type="http://schemas.openxmlformats.org/officeDocument/2006/relationships/image"/><Relationship Id="rId9" Target="../media/image13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65087" y="3644390"/>
            <a:ext cx="10296147" cy="122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72"/>
              </a:lnSpc>
            </a:pPr>
            <a:r>
              <a:rPr lang="en-US" sz="8614" spc="-84" b="true">
                <a:solidFill>
                  <a:srgbClr val="F4F8F8"/>
                </a:solidFill>
                <a:latin typeface="Inter Bold"/>
                <a:ea typeface="Inter Bold"/>
                <a:cs typeface="Inter Bold"/>
                <a:sym typeface="Inter Bold"/>
              </a:rPr>
              <a:t>Amazon S3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34896" y="5121603"/>
            <a:ext cx="7593174" cy="73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26"/>
              </a:lnSpc>
            </a:pPr>
            <a:r>
              <a:rPr lang="en-US" sz="3955" spc="-38" b="true">
                <a:solidFill>
                  <a:srgbClr val="00CCF1"/>
                </a:solidFill>
                <a:latin typeface="Inter Medium"/>
                <a:ea typeface="Inter Medium"/>
                <a:cs typeface="Inter Medium"/>
                <a:sym typeface="Inter Medium"/>
              </a:rPr>
              <a:t>Amazon Simple Storage Service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5995" y="6144197"/>
            <a:ext cx="8162182" cy="61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42"/>
              </a:lnSpc>
            </a:pPr>
            <a:r>
              <a:rPr lang="en-US" sz="3339" spc="-32" b="true">
                <a:solidFill>
                  <a:srgbClr val="F4F8F8"/>
                </a:solidFill>
                <a:latin typeface="Inter Medium"/>
                <a:ea typeface="Inter Medium"/>
                <a:cs typeface="Inter Medium"/>
                <a:sym typeface="Inter Medium"/>
              </a:rPr>
              <a:t>Từ bài toán lưu tệp đến dịch vụ đám máy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10672" y="209563"/>
            <a:ext cx="13942141" cy="1040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02"/>
              </a:lnSpc>
            </a:pPr>
            <a:r>
              <a:rPr lang="en-US" sz="6073" b="true">
                <a:solidFill>
                  <a:srgbClr val="F4F4F4"/>
                </a:solidFill>
                <a:latin typeface="Inter Bold"/>
                <a:ea typeface="Inter Bold"/>
                <a:cs typeface="Inter Bold"/>
                <a:sym typeface="Inter Bold"/>
              </a:rPr>
              <a:t>Các vấn đề phổ biến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1705390"/>
            <a:ext cx="5457962" cy="3869923"/>
          </a:xfrm>
          <a:custGeom>
            <a:avLst/>
            <a:gdLst/>
            <a:ahLst/>
            <a:cxnLst/>
            <a:rect r="r" b="b" t="t" l="l"/>
            <a:pathLst>
              <a:path h="3869923" w="5457962">
                <a:moveTo>
                  <a:pt x="0" y="0"/>
                </a:moveTo>
                <a:lnTo>
                  <a:pt x="5457962" y="0"/>
                </a:lnTo>
                <a:lnTo>
                  <a:pt x="5457962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19109" y="5541752"/>
            <a:ext cx="4346103" cy="1115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1739" indent="-275870" lvl="1">
              <a:lnSpc>
                <a:spcPts val="5342"/>
              </a:lnSpc>
              <a:buFont typeface="Arial"/>
              <a:buChar char="•"/>
            </a:pPr>
            <a:r>
              <a:rPr lang="en-US" b="true" sz="3339" spc="-32">
                <a:solidFill>
                  <a:srgbClr val="F4F4F4"/>
                </a:solidFill>
                <a:latin typeface="Inter Medium"/>
                <a:ea typeface="Inter Medium"/>
                <a:cs typeface="Inter Medium"/>
                <a:sym typeface="Inter Medium"/>
              </a:rPr>
              <a:t>Tệp nằm rải rác trên nhiều máy.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529866" y="1705390"/>
            <a:ext cx="5447024" cy="3869923"/>
          </a:xfrm>
          <a:custGeom>
            <a:avLst/>
            <a:gdLst/>
            <a:ahLst/>
            <a:cxnLst/>
            <a:rect r="r" b="b" t="t" l="l"/>
            <a:pathLst>
              <a:path h="3869923" w="5447024">
                <a:moveTo>
                  <a:pt x="0" y="0"/>
                </a:moveTo>
                <a:lnTo>
                  <a:pt x="5447024" y="0"/>
                </a:lnTo>
                <a:lnTo>
                  <a:pt x="5447024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404793" y="5541752"/>
            <a:ext cx="5137095" cy="1115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1739" indent="-275870" lvl="1">
              <a:lnSpc>
                <a:spcPts val="5342"/>
              </a:lnSpc>
              <a:buFont typeface="Arial"/>
              <a:buChar char="•"/>
            </a:pPr>
            <a:r>
              <a:rPr lang="en-US" b="true" sz="3339" spc="-32">
                <a:solidFill>
                  <a:srgbClr val="F4F4F4"/>
                </a:solidFill>
                <a:latin typeface="Inter Medium"/>
                <a:ea typeface="Inter Medium"/>
                <a:cs typeface="Inter Medium"/>
                <a:sym typeface="Inter Medium"/>
              </a:rPr>
              <a:t>Bản sửa mới làm mất nội dung cũ.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184708" y="1705390"/>
            <a:ext cx="5457962" cy="3869923"/>
          </a:xfrm>
          <a:custGeom>
            <a:avLst/>
            <a:gdLst/>
            <a:ahLst/>
            <a:cxnLst/>
            <a:rect r="r" b="b" t="t" l="l"/>
            <a:pathLst>
              <a:path h="3869923" w="5457962">
                <a:moveTo>
                  <a:pt x="0" y="0"/>
                </a:moveTo>
                <a:lnTo>
                  <a:pt x="5457962" y="0"/>
                </a:lnTo>
                <a:lnTo>
                  <a:pt x="5457962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168612" y="5541753"/>
            <a:ext cx="4720022" cy="1115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1739" indent="-275870" lvl="1">
              <a:lnSpc>
                <a:spcPts val="5342"/>
              </a:lnSpc>
              <a:buFont typeface="Arial"/>
              <a:buChar char="•"/>
            </a:pPr>
            <a:r>
              <a:rPr lang="en-US" b="true" sz="3339" spc="-32">
                <a:solidFill>
                  <a:srgbClr val="F4F4F4"/>
                </a:solidFill>
                <a:latin typeface="Inter Medium"/>
                <a:ea typeface="Inter Medium"/>
                <a:cs typeface="Inter Medium"/>
                <a:sym typeface="Inter Medium"/>
              </a:rPr>
              <a:t>Chia sẻ nhầm hoặc để link tồn tại quá lâu.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45330" y="7280704"/>
            <a:ext cx="16997340" cy="1934962"/>
          </a:xfrm>
          <a:custGeom>
            <a:avLst/>
            <a:gdLst/>
            <a:ahLst/>
            <a:cxnLst/>
            <a:rect r="r" b="b" t="t" l="l"/>
            <a:pathLst>
              <a:path h="1934962" w="16997340">
                <a:moveTo>
                  <a:pt x="0" y="0"/>
                </a:moveTo>
                <a:lnTo>
                  <a:pt x="16997340" y="0"/>
                </a:lnTo>
                <a:lnTo>
                  <a:pt x="16997340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705725" y="7699442"/>
            <a:ext cx="6235266" cy="882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08"/>
              </a:lnSpc>
            </a:pPr>
            <a:r>
              <a:rPr lang="en-US" sz="5220" b="true">
                <a:solidFill>
                  <a:srgbClr val="F4F4F4"/>
                </a:solidFill>
                <a:latin typeface="Inter Bold"/>
                <a:ea typeface="Inter Bold"/>
                <a:cs typeface="Inter Bold"/>
                <a:sym typeface="Inter Bold"/>
              </a:rPr>
              <a:t>Cần một nơi lưu với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94580" y="7699442"/>
            <a:ext cx="7608433" cy="882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08"/>
              </a:lnSpc>
            </a:pPr>
            <a:r>
              <a:rPr lang="en-US" sz="5220" b="true">
                <a:solidFill>
                  <a:srgbClr val="02D6F7"/>
                </a:solidFill>
                <a:latin typeface="Inter Bold"/>
                <a:ea typeface="Inter Bold"/>
                <a:cs typeface="Inter Bold"/>
                <a:sym typeface="Inter Bold"/>
              </a:rPr>
              <a:t>quyền truy cập rõ ràng.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7664" y="9558121"/>
            <a:ext cx="5243023" cy="342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3"/>
              </a:lnSpc>
            </a:pPr>
            <a:r>
              <a:rPr lang="en-US" sz="2088" b="true">
                <a:solidFill>
                  <a:srgbClr val="FFFFFF">
                    <a:alpha val="60000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Tình huống minh họa do nhóm xây dựng.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44601" y="1599181"/>
            <a:ext cx="11264851" cy="2106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54"/>
              </a:lnSpc>
            </a:pPr>
            <a:r>
              <a:rPr lang="en-US" sz="6960" spc="-67" b="true">
                <a:solidFill>
                  <a:srgbClr val="FFFF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Trước đám mây:</a:t>
            </a:r>
          </a:p>
          <a:p>
            <a:pPr algn="l">
              <a:lnSpc>
                <a:spcPts val="8354"/>
              </a:lnSpc>
            </a:pPr>
            <a:r>
              <a:rPr lang="en-US" sz="6960" spc="-67" b="true">
                <a:solidFill>
                  <a:srgbClr val="FFFF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Tự chuẩn bị nơi lưu dữ liệu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14517" y="4385437"/>
            <a:ext cx="7484196" cy="499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2122" indent="-366061" lvl="1">
              <a:lnSpc>
                <a:spcPts val="4071"/>
              </a:lnSpc>
              <a:buFont typeface="Arial"/>
              <a:buChar char="•"/>
            </a:pPr>
            <a:r>
              <a:rPr lang="en-US" sz="3392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Chuẩn bị máy chủ, ổ đĩa và mạng.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04267" y="5228845"/>
            <a:ext cx="8509190" cy="499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2122" indent="-366061" lvl="1">
              <a:lnSpc>
                <a:spcPts val="4071"/>
              </a:lnSpc>
              <a:buFont typeface="Arial"/>
              <a:buChar char="•"/>
            </a:pPr>
            <a:r>
              <a:rPr lang="en-US" sz="3392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Dự tính dung lượng trước khi sử dụng.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03147" y="6087312"/>
            <a:ext cx="8621240" cy="499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2122" indent="-366061" lvl="1">
              <a:lnSpc>
                <a:spcPts val="4071"/>
              </a:lnSpc>
              <a:buFont typeface="Arial"/>
              <a:buChar char="•"/>
            </a:pPr>
            <a:r>
              <a:rPr lang="en-US" sz="3392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Theo dõi hỏng hóc, sao lưu và mở rộng.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92122" y="6930720"/>
            <a:ext cx="9723722" cy="499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2122" indent="-366061" lvl="1">
              <a:lnSpc>
                <a:spcPts val="4071"/>
              </a:lnSpc>
              <a:buFont typeface="Arial"/>
              <a:buChar char="•"/>
            </a:pPr>
            <a:r>
              <a:rPr lang="en-US" sz="3392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Càng tăng dữ liệu, càng thêm việc vận hành.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2832890" cy="2579949"/>
          </a:xfrm>
          <a:custGeom>
            <a:avLst/>
            <a:gdLst/>
            <a:ahLst/>
            <a:cxnLst/>
            <a:rect r="r" b="b" t="t" l="l"/>
            <a:pathLst>
              <a:path h="2579949" w="2832890">
                <a:moveTo>
                  <a:pt x="0" y="0"/>
                </a:moveTo>
                <a:lnTo>
                  <a:pt x="2832890" y="0"/>
                </a:lnTo>
                <a:lnTo>
                  <a:pt x="2832890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7499343"/>
            <a:ext cx="2832890" cy="2787657"/>
          </a:xfrm>
          <a:custGeom>
            <a:avLst/>
            <a:gdLst/>
            <a:ahLst/>
            <a:cxnLst/>
            <a:rect r="r" b="b" t="t" l="l"/>
            <a:pathLst>
              <a:path h="2787657" w="2832890">
                <a:moveTo>
                  <a:pt x="0" y="0"/>
                </a:moveTo>
                <a:lnTo>
                  <a:pt x="2832890" y="0"/>
                </a:lnTo>
                <a:lnTo>
                  <a:pt x="2832890" y="2787657"/>
                </a:lnTo>
                <a:lnTo>
                  <a:pt x="0" y="27876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97244" y="5990729"/>
            <a:ext cx="4790756" cy="4296271"/>
          </a:xfrm>
          <a:custGeom>
            <a:avLst/>
            <a:gdLst/>
            <a:ahLst/>
            <a:cxnLst/>
            <a:rect r="r" b="b" t="t" l="l"/>
            <a:pathLst>
              <a:path h="4296271" w="4790756">
                <a:moveTo>
                  <a:pt x="0" y="0"/>
                </a:moveTo>
                <a:lnTo>
                  <a:pt x="4790756" y="0"/>
                </a:lnTo>
                <a:lnTo>
                  <a:pt x="4790756" y="4296271"/>
                </a:lnTo>
                <a:lnTo>
                  <a:pt x="0" y="42962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1924030"/>
            <a:ext cx="18288000" cy="4514911"/>
          </a:xfrm>
          <a:custGeom>
            <a:avLst/>
            <a:gdLst/>
            <a:ahLst/>
            <a:cxnLst/>
            <a:rect r="r" b="b" t="t" l="l"/>
            <a:pathLst>
              <a:path h="4514911" w="18288000">
                <a:moveTo>
                  <a:pt x="0" y="0"/>
                </a:moveTo>
                <a:lnTo>
                  <a:pt x="18288000" y="0"/>
                </a:lnTo>
                <a:lnTo>
                  <a:pt x="18288000" y="4514910"/>
                </a:lnTo>
                <a:lnTo>
                  <a:pt x="0" y="45149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50021" y="670952"/>
            <a:ext cx="16108101" cy="969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44"/>
              </a:lnSpc>
            </a:pPr>
            <a:r>
              <a:rPr lang="en-US" sz="5673" b="true">
                <a:solidFill>
                  <a:srgbClr val="FFFFFF">
                    <a:alpha val="94902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S3 ra đời : đơn giản hóa lưu trữ qua Internet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18090" y="6399217"/>
            <a:ext cx="9805846" cy="1989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0741" indent="-360371" lvl="1">
              <a:lnSpc>
                <a:spcPts val="5342"/>
              </a:lnSpc>
              <a:buFont typeface="Arial"/>
              <a:buChar char="•"/>
            </a:pPr>
            <a:r>
              <a:rPr lang="en-US" sz="3339" spc="-3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Cung cấp lưu trữ qua giao diện web service.</a:t>
            </a:r>
          </a:p>
          <a:p>
            <a:pPr algn="l" marL="720741" indent="-360371" lvl="1">
              <a:lnSpc>
                <a:spcPts val="5342"/>
              </a:lnSpc>
              <a:buFont typeface="Arial"/>
              <a:buChar char="•"/>
            </a:pPr>
            <a:r>
              <a:rPr lang="en-US" sz="3339" spc="-3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Cho lập trình viên dùng hạ tầng có thể mở rộng.</a:t>
            </a:r>
          </a:p>
          <a:p>
            <a:pPr algn="l" marL="720741" indent="-360371" lvl="1">
              <a:lnSpc>
                <a:spcPts val="5342"/>
              </a:lnSpc>
              <a:buFont typeface="Arial"/>
              <a:buChar char="•"/>
            </a:pPr>
            <a:r>
              <a:rPr lang="en-US" sz="3339" spc="-3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Giảm công việc tự xây và quản lý hạ tầng.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5784" y="9135147"/>
            <a:ext cx="8862263" cy="41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4"/>
              </a:lnSpc>
            </a:pPr>
            <a:r>
              <a:rPr lang="en-US" sz="2070">
                <a:solidFill>
                  <a:srgbClr val="FFFFFF">
                    <a:alpha val="6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Amazon Press Center — Amazon Web Services Launches, 14/03/2006.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965952" y="1071335"/>
            <a:ext cx="6322048" cy="9007957"/>
          </a:xfrm>
          <a:custGeom>
            <a:avLst/>
            <a:gdLst/>
            <a:ahLst/>
            <a:cxnLst/>
            <a:rect r="r" b="b" t="t" l="l"/>
            <a:pathLst>
              <a:path h="9007957" w="6322048">
                <a:moveTo>
                  <a:pt x="0" y="0"/>
                </a:moveTo>
                <a:lnTo>
                  <a:pt x="6322048" y="0"/>
                </a:lnTo>
                <a:lnTo>
                  <a:pt x="6322048" y="9007957"/>
                </a:lnTo>
                <a:lnTo>
                  <a:pt x="0" y="90079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840976" y="2569017"/>
            <a:ext cx="229694" cy="437279"/>
          </a:xfrm>
          <a:custGeom>
            <a:avLst/>
            <a:gdLst/>
            <a:ahLst/>
            <a:cxnLst/>
            <a:rect r="r" b="b" t="t" l="l"/>
            <a:pathLst>
              <a:path h="437279" w="229694">
                <a:moveTo>
                  <a:pt x="0" y="0"/>
                </a:moveTo>
                <a:lnTo>
                  <a:pt x="229694" y="0"/>
                </a:lnTo>
                <a:lnTo>
                  <a:pt x="22969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403464" y="2995365"/>
            <a:ext cx="1968804" cy="863627"/>
          </a:xfrm>
          <a:custGeom>
            <a:avLst/>
            <a:gdLst/>
            <a:ahLst/>
            <a:cxnLst/>
            <a:rect r="r" b="b" t="t" l="l"/>
            <a:pathLst>
              <a:path h="863627" w="1968804">
                <a:moveTo>
                  <a:pt x="0" y="0"/>
                </a:moveTo>
                <a:lnTo>
                  <a:pt x="1968804" y="0"/>
                </a:lnTo>
                <a:lnTo>
                  <a:pt x="1968804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142574" y="2350377"/>
            <a:ext cx="4145426" cy="5586245"/>
          </a:xfrm>
          <a:custGeom>
            <a:avLst/>
            <a:gdLst/>
            <a:ahLst/>
            <a:cxnLst/>
            <a:rect r="r" b="b" t="t" l="l"/>
            <a:pathLst>
              <a:path h="5586245" w="4145426">
                <a:moveTo>
                  <a:pt x="0" y="0"/>
                </a:moveTo>
                <a:lnTo>
                  <a:pt x="4145426" y="0"/>
                </a:lnTo>
                <a:lnTo>
                  <a:pt x="4145426" y="5586246"/>
                </a:lnTo>
                <a:lnTo>
                  <a:pt x="0" y="55862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-263671">
            <a:off x="14613625" y="3294354"/>
            <a:ext cx="909827" cy="249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7"/>
              </a:lnSpc>
            </a:pPr>
            <a:r>
              <a:rPr lang="en-US" sz="1722" b="true">
                <a:solidFill>
                  <a:srgbClr val="101A2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Buckets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580086" y="3848060"/>
            <a:ext cx="448450" cy="448211"/>
          </a:xfrm>
          <a:custGeom>
            <a:avLst/>
            <a:gdLst/>
            <a:ahLst/>
            <a:cxnLst/>
            <a:rect r="r" b="b" t="t" l="l"/>
            <a:pathLst>
              <a:path h="448211" w="448450">
                <a:moveTo>
                  <a:pt x="0" y="0"/>
                </a:moveTo>
                <a:lnTo>
                  <a:pt x="448450" y="0"/>
                </a:lnTo>
                <a:lnTo>
                  <a:pt x="448450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580086" y="4493047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017598" y="4493047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580086" y="5138034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017598" y="5138034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580086" y="5783021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017598" y="5783021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580086" y="6428009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017598" y="6209369"/>
            <a:ext cx="448450" cy="655919"/>
          </a:xfrm>
          <a:custGeom>
            <a:avLst/>
            <a:gdLst/>
            <a:ahLst/>
            <a:cxnLst/>
            <a:rect r="r" b="b" t="t" l="l"/>
            <a:pathLst>
              <a:path h="655919" w="448450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158203">
            <a:off x="15558534" y="6535189"/>
            <a:ext cx="777317" cy="187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6"/>
              </a:lnSpc>
            </a:pPr>
            <a:r>
              <a:rPr lang="en-US" sz="1230" b="true">
                <a:solidFill>
                  <a:srgbClr val="20385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backups/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54028" y="1956726"/>
            <a:ext cx="5680041" cy="1438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19"/>
              </a:lnSpc>
            </a:pPr>
            <a:r>
              <a:rPr lang="en-US" sz="10719" b="true">
                <a:solidFill>
                  <a:srgbClr val="F4F6FC"/>
                </a:solidFill>
                <a:latin typeface="Inter Bold"/>
                <a:ea typeface="Inter Bold"/>
                <a:cs typeface="Inter Bold"/>
                <a:sym typeface="Inter Bold"/>
              </a:rPr>
              <a:t>S3 là gì?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37488" y="3869716"/>
            <a:ext cx="7866049" cy="611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0741" indent="-360371" lvl="1">
              <a:lnSpc>
                <a:spcPts val="5342"/>
              </a:lnSpc>
              <a:buFont typeface="Arial"/>
              <a:buChar char="•"/>
            </a:pPr>
            <a:r>
              <a:rPr lang="en-US" b="true" sz="3339" spc="-32">
                <a:solidFill>
                  <a:srgbClr val="F4F6FC"/>
                </a:solidFill>
                <a:latin typeface="Inter Medium"/>
                <a:ea typeface="Inter Medium"/>
                <a:cs typeface="Inter Medium"/>
                <a:sym typeface="Inter Medium"/>
              </a:rPr>
              <a:t>Dịch vụ lưu trữ đối tượng trên AWS.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32054" y="4758305"/>
            <a:ext cx="8409450" cy="611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0741" indent="-360371" lvl="1">
              <a:lnSpc>
                <a:spcPts val="5342"/>
              </a:lnSpc>
              <a:buFont typeface="Arial"/>
              <a:buChar char="•"/>
            </a:pPr>
            <a:r>
              <a:rPr lang="en-US" b="true" sz="3339" spc="-32">
                <a:solidFill>
                  <a:srgbClr val="F4F6FC"/>
                </a:solidFill>
                <a:latin typeface="Inter Medium"/>
                <a:ea typeface="Inter Medium"/>
                <a:cs typeface="Inter Medium"/>
                <a:sym typeface="Inter Medium"/>
              </a:rPr>
              <a:t>Lưu ảnh, tài liệu, video và bản sao lưu.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21850" y="5631834"/>
            <a:ext cx="9429795" cy="611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0741" indent="-360371" lvl="1">
              <a:lnSpc>
                <a:spcPts val="5342"/>
              </a:lnSpc>
              <a:buFont typeface="Arial"/>
              <a:buChar char="•"/>
            </a:pPr>
            <a:r>
              <a:rPr lang="en-US" b="true" sz="3339" spc="-32">
                <a:solidFill>
                  <a:srgbClr val="F4F6FC"/>
                </a:solidFill>
                <a:latin typeface="Inter Medium"/>
                <a:ea typeface="Inter Medium"/>
                <a:cs typeface="Inter Medium"/>
                <a:sym typeface="Inter Medium"/>
              </a:rPr>
              <a:t>Dữ liệu nằm trong bucket dưới dạng object.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41656" y="6505363"/>
            <a:ext cx="7449274" cy="611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0741" indent="-360371" lvl="1">
              <a:lnSpc>
                <a:spcPts val="5342"/>
              </a:lnSpc>
              <a:buFont typeface="Arial"/>
              <a:buChar char="•"/>
            </a:pPr>
            <a:r>
              <a:rPr lang="en-US" b="true" sz="3339" spc="-32">
                <a:solidFill>
                  <a:srgbClr val="F4F6FC"/>
                </a:solidFill>
                <a:latin typeface="Inter Medium"/>
                <a:ea typeface="Inter Medium"/>
                <a:cs typeface="Inter Medium"/>
                <a:sym typeface="Inter Medium"/>
              </a:rPr>
              <a:t>Truy cập bằng Console hoặc API.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37617" y="8500722"/>
            <a:ext cx="5411391" cy="487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26"/>
              </a:lnSpc>
            </a:pPr>
            <a:r>
              <a:rPr lang="en-US" sz="3955" spc="-38" b="true">
                <a:solidFill>
                  <a:srgbClr val="F4F6FC">
                    <a:alpha val="60000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AWS User Guide — What is Amazon S3?</a:t>
            </a:r>
          </a:p>
        </p:txBody>
      </p:sp>
      <p:sp>
        <p:nvSpPr>
          <p:cNvPr name="TextBox 24" id="24"/>
          <p:cNvSpPr txBox="true"/>
          <p:nvPr/>
        </p:nvSpPr>
        <p:spPr>
          <a:xfrm rot="-369140">
            <a:off x="13245592" y="2607693"/>
            <a:ext cx="1020985" cy="196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8"/>
              </a:lnSpc>
            </a:pPr>
            <a:r>
              <a:rPr lang="en-US" sz="1390" b="true">
                <a:solidFill>
                  <a:srgbClr val="F4F6FC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Amazon S3</a:t>
            </a:r>
          </a:p>
        </p:txBody>
      </p:sp>
      <p:sp>
        <p:nvSpPr>
          <p:cNvPr name="TextBox 25" id="25"/>
          <p:cNvSpPr txBox="true"/>
          <p:nvPr/>
        </p:nvSpPr>
        <p:spPr>
          <a:xfrm rot="-137109">
            <a:off x="12763565" y="4375949"/>
            <a:ext cx="1339372" cy="160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3"/>
              </a:lnSpc>
            </a:pPr>
            <a:r>
              <a:rPr lang="en-US" sz="1144" b="true">
                <a:solidFill>
                  <a:srgbClr val="F4F6FC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Batch Operations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581133" y="5285135"/>
            <a:ext cx="1010157" cy="187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6"/>
              </a:lnSpc>
            </a:pPr>
            <a:r>
              <a:rPr lang="en-US" sz="1230" b="true">
                <a:solidFill>
                  <a:srgbClr val="20385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documents/</a:t>
            </a:r>
          </a:p>
        </p:txBody>
      </p:sp>
      <p:sp>
        <p:nvSpPr>
          <p:cNvPr name="TextBox 27" id="27"/>
          <p:cNvSpPr txBox="true"/>
          <p:nvPr/>
        </p:nvSpPr>
        <p:spPr>
          <a:xfrm rot="-137109">
            <a:off x="12766707" y="3894002"/>
            <a:ext cx="1025203" cy="160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3"/>
              </a:lnSpc>
            </a:pPr>
            <a:r>
              <a:rPr lang="en-US" sz="1144" b="true">
                <a:solidFill>
                  <a:srgbClr val="F4F6FC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Access Points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638191" y="4644257"/>
            <a:ext cx="662176" cy="214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406" b="true">
                <a:solidFill>
                  <a:srgbClr val="20385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photos/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558191" y="5902629"/>
            <a:ext cx="625388" cy="187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6"/>
              </a:lnSpc>
            </a:pPr>
            <a:r>
              <a:rPr lang="en-US" sz="1230" b="true">
                <a:solidFill>
                  <a:srgbClr val="20385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videos/</a:t>
            </a:r>
          </a:p>
        </p:txBody>
      </p:sp>
      <p:sp>
        <p:nvSpPr>
          <p:cNvPr name="TextBox 30" id="30"/>
          <p:cNvSpPr txBox="true"/>
          <p:nvPr/>
        </p:nvSpPr>
        <p:spPr>
          <a:xfrm rot="-263671">
            <a:off x="12823159" y="3412055"/>
            <a:ext cx="606551" cy="160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3"/>
              </a:lnSpc>
            </a:pPr>
            <a:r>
              <a:rPr lang="en-US" sz="1144" b="true">
                <a:solidFill>
                  <a:srgbClr val="F4F6FC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Buckets</a:t>
            </a:r>
          </a:p>
        </p:txBody>
      </p:sp>
      <p:sp>
        <p:nvSpPr>
          <p:cNvPr name="TextBox 31" id="31"/>
          <p:cNvSpPr txBox="true"/>
          <p:nvPr/>
        </p:nvSpPr>
        <p:spPr>
          <a:xfrm rot="-137109">
            <a:off x="15156044" y="4050150"/>
            <a:ext cx="495131" cy="187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6"/>
              </a:lnSpc>
            </a:pPr>
            <a:r>
              <a:rPr lang="en-US" sz="1230" b="true">
                <a:solidFill>
                  <a:srgbClr val="101A2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Name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0134" y="635351"/>
            <a:ext cx="15638180" cy="73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8"/>
              </a:lnSpc>
            </a:pPr>
            <a:r>
              <a:rPr lang="en-US" sz="5568" spc="-111" b="true">
                <a:solidFill>
                  <a:srgbClr val="F4F4F4"/>
                </a:solidFill>
                <a:latin typeface="Inter Bold"/>
                <a:ea typeface="Inter Bold"/>
                <a:cs typeface="Inter Bold"/>
                <a:sym typeface="Inter Bold"/>
              </a:rPr>
              <a:t>Object, file và block khác nhau ở cách làm việc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1705390"/>
            <a:ext cx="5457962" cy="3869923"/>
          </a:xfrm>
          <a:custGeom>
            <a:avLst/>
            <a:gdLst/>
            <a:ahLst/>
            <a:cxnLst/>
            <a:rect r="r" b="b" t="t" l="l"/>
            <a:pathLst>
              <a:path h="3869923" w="5457962">
                <a:moveTo>
                  <a:pt x="0" y="0"/>
                </a:moveTo>
                <a:lnTo>
                  <a:pt x="5457962" y="0"/>
                </a:lnTo>
                <a:lnTo>
                  <a:pt x="5457962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0354" y="2776725"/>
            <a:ext cx="448450" cy="655919"/>
          </a:xfrm>
          <a:custGeom>
            <a:avLst/>
            <a:gdLst/>
            <a:ahLst/>
            <a:cxnLst/>
            <a:rect r="r" b="b" t="t" l="l"/>
            <a:pathLst>
              <a:path h="655919" w="448450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268945">
            <a:off x="2028346" y="2947953"/>
            <a:ext cx="1019807" cy="349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3"/>
              </a:lnSpc>
            </a:pPr>
            <a:r>
              <a:rPr lang="en-US" sz="1949">
                <a:solidFill>
                  <a:srgbClr val="F4F4F4">
                    <a:alpha val="7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Projects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957866" y="3214004"/>
            <a:ext cx="437512" cy="644987"/>
          </a:xfrm>
          <a:custGeom>
            <a:avLst/>
            <a:gdLst/>
            <a:ahLst/>
            <a:cxnLst/>
            <a:rect r="r" b="b" t="t" l="l"/>
            <a:pathLst>
              <a:path h="644987" w="437512">
                <a:moveTo>
                  <a:pt x="0" y="0"/>
                </a:moveTo>
                <a:lnTo>
                  <a:pt x="437512" y="0"/>
                </a:lnTo>
                <a:lnTo>
                  <a:pt x="437512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957866" y="3640352"/>
            <a:ext cx="437512" cy="655919"/>
          </a:xfrm>
          <a:custGeom>
            <a:avLst/>
            <a:gdLst/>
            <a:ahLst/>
            <a:cxnLst/>
            <a:rect r="r" b="b" t="t" l="l"/>
            <a:pathLst>
              <a:path h="655919" w="437512">
                <a:moveTo>
                  <a:pt x="0" y="0"/>
                </a:moveTo>
                <a:lnTo>
                  <a:pt x="437512" y="0"/>
                </a:lnTo>
                <a:lnTo>
                  <a:pt x="43751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311110" y="1705390"/>
            <a:ext cx="5665780" cy="3869923"/>
          </a:xfrm>
          <a:custGeom>
            <a:avLst/>
            <a:gdLst/>
            <a:ahLst/>
            <a:cxnLst/>
            <a:rect r="r" b="b" t="t" l="l"/>
            <a:pathLst>
              <a:path h="3869923" w="5665780">
                <a:moveTo>
                  <a:pt x="0" y="0"/>
                </a:moveTo>
                <a:lnTo>
                  <a:pt x="5665780" y="0"/>
                </a:lnTo>
                <a:lnTo>
                  <a:pt x="5665780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184708" y="1705390"/>
            <a:ext cx="5676718" cy="3869923"/>
          </a:xfrm>
          <a:custGeom>
            <a:avLst/>
            <a:gdLst/>
            <a:ahLst/>
            <a:cxnLst/>
            <a:rect r="r" b="b" t="t" l="l"/>
            <a:pathLst>
              <a:path h="3869923" w="5676718">
                <a:moveTo>
                  <a:pt x="0" y="0"/>
                </a:moveTo>
                <a:lnTo>
                  <a:pt x="5676718" y="0"/>
                </a:lnTo>
                <a:lnTo>
                  <a:pt x="5676718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189843">
            <a:off x="14170384" y="3249119"/>
            <a:ext cx="2963813" cy="706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3"/>
              </a:lnSpc>
            </a:pPr>
            <a:r>
              <a:rPr lang="en-US" sz="1949">
                <a:solidFill>
                  <a:srgbClr val="F4F4F4">
                    <a:alpha val="7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content-type: image/jpeg</a:t>
            </a:r>
          </a:p>
          <a:p>
            <a:pPr algn="l">
              <a:lnSpc>
                <a:spcPts val="2923"/>
              </a:lnSpc>
            </a:pPr>
            <a:r>
              <a:rPr lang="en-US" sz="1949">
                <a:solidFill>
                  <a:srgbClr val="F4F4F4">
                    <a:alpha val="7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size: 3482790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168213" y="4261045"/>
            <a:ext cx="2999051" cy="304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704">
                <a:solidFill>
                  <a:srgbClr val="F4F4F4">
                    <a:alpha val="7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010010010110100001010910...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8886" y="5587056"/>
            <a:ext cx="762977" cy="595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42"/>
              </a:lnSpc>
            </a:pPr>
            <a:r>
              <a:rPr lang="en-US" sz="3339" spc="-32" b="true">
                <a:solidFill>
                  <a:srgbClr val="02DBF9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File: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1793" y="6331068"/>
            <a:ext cx="4472290" cy="340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5"/>
              </a:lnSpc>
            </a:pPr>
            <a:r>
              <a:rPr lang="en-US" sz="2645" spc="-52" b="true">
                <a:solidFill>
                  <a:srgbClr val="F4F4F4"/>
                </a:solidFill>
                <a:latin typeface="Inter Medium"/>
                <a:ea typeface="Inter Medium"/>
                <a:cs typeface="Inter Medium"/>
                <a:sym typeface="Inter Medium"/>
              </a:rPr>
              <a:t>tổ chức theo tệp và thư mục.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310731" y="5587056"/>
            <a:ext cx="1148731" cy="595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42"/>
              </a:lnSpc>
            </a:pPr>
            <a:r>
              <a:rPr lang="en-US" sz="3339" spc="-32" b="true">
                <a:solidFill>
                  <a:srgbClr val="02DBF9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Block: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269159" y="6331068"/>
            <a:ext cx="5306020" cy="340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5"/>
              </a:lnSpc>
            </a:pPr>
            <a:r>
              <a:rPr lang="en-US" sz="2645" spc="-52" b="true">
                <a:solidFill>
                  <a:srgbClr val="F4F4F4"/>
                </a:solidFill>
                <a:latin typeface="Inter Medium"/>
                <a:ea typeface="Inter Medium"/>
                <a:cs typeface="Inter Medium"/>
                <a:sym typeface="Inter Medium"/>
              </a:rPr>
              <a:t>đọc/ghi các khối trên một volume.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282748" y="5587056"/>
            <a:ext cx="1343196" cy="595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42"/>
              </a:lnSpc>
            </a:pPr>
            <a:r>
              <a:rPr lang="en-US" sz="3339" spc="-32" b="true">
                <a:solidFill>
                  <a:srgbClr val="02DBF9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Object: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247440" y="6331068"/>
            <a:ext cx="4873945" cy="340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5"/>
              </a:lnSpc>
            </a:pPr>
            <a:r>
              <a:rPr lang="en-US" sz="2645" spc="-52" b="true">
                <a:solidFill>
                  <a:srgbClr val="F4F4F4"/>
                </a:solidFill>
                <a:latin typeface="Inter Medium"/>
                <a:ea typeface="Inter Medium"/>
                <a:cs typeface="Inter Medium"/>
                <a:sym typeface="Inter Medium"/>
              </a:rPr>
              <a:t>dữ liệu, metadata và định danh.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426574" y="7280704"/>
            <a:ext cx="17434852" cy="2372241"/>
          </a:xfrm>
          <a:custGeom>
            <a:avLst/>
            <a:gdLst/>
            <a:ahLst/>
            <a:cxnLst/>
            <a:rect r="r" b="b" t="t" l="l"/>
            <a:pathLst>
              <a:path h="2372241" w="17434852">
                <a:moveTo>
                  <a:pt x="0" y="0"/>
                </a:moveTo>
                <a:lnTo>
                  <a:pt x="17434852" y="0"/>
                </a:lnTo>
                <a:lnTo>
                  <a:pt x="17434852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134057" y="7882334"/>
            <a:ext cx="1787265" cy="340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5"/>
              </a:lnSpc>
            </a:pPr>
            <a:r>
              <a:rPr lang="en-US" sz="2645" spc="-52" b="true">
                <a:solidFill>
                  <a:srgbClr val="F4F4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Ví dụ AWS: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78963" y="8406745"/>
            <a:ext cx="4617758" cy="73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8"/>
              </a:lnSpc>
            </a:pPr>
            <a:r>
              <a:rPr lang="en-US" sz="5568" spc="-111" b="true">
                <a:solidFill>
                  <a:srgbClr val="F8891D"/>
                </a:solidFill>
                <a:latin typeface="Inter Bold"/>
                <a:ea typeface="Inter Bold"/>
                <a:cs typeface="Inter Bold"/>
                <a:sym typeface="Inter Bold"/>
              </a:rPr>
              <a:t>EFS · EBS · S3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385041" y="8282774"/>
            <a:ext cx="8272614" cy="640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342"/>
              </a:lnSpc>
            </a:pPr>
            <a:r>
              <a:rPr lang="en-US" b="true" sz="3339" spc="-32">
                <a:solidFill>
                  <a:srgbClr val="F4F4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AWS — Block vs. File vs. Object Storage</a:t>
            </a:r>
          </a:p>
        </p:txBody>
      </p:sp>
      <p:sp>
        <p:nvSpPr>
          <p:cNvPr name="TextBox 23" id="23"/>
          <p:cNvSpPr txBox="true"/>
          <p:nvPr/>
        </p:nvSpPr>
        <p:spPr>
          <a:xfrm rot="268945">
            <a:off x="14180597" y="2676858"/>
            <a:ext cx="2018198" cy="349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3"/>
              </a:lnSpc>
            </a:pPr>
            <a:r>
              <a:rPr lang="en-US" sz="1949">
                <a:solidFill>
                  <a:srgbClr val="F4F4F4">
                    <a:alpha val="7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photos/image.jpg</a:t>
            </a:r>
          </a:p>
        </p:txBody>
      </p:sp>
      <p:sp>
        <p:nvSpPr>
          <p:cNvPr name="TextBox 24" id="24"/>
          <p:cNvSpPr txBox="true"/>
          <p:nvPr/>
        </p:nvSpPr>
        <p:spPr>
          <a:xfrm rot="189843">
            <a:off x="12699957" y="3055544"/>
            <a:ext cx="3214688" cy="409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F4F4F4">
                    <a:alpha val="7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Metadata</a:t>
            </a:r>
          </a:p>
        </p:txBody>
      </p:sp>
      <p:sp>
        <p:nvSpPr>
          <p:cNvPr name="TextBox 25" id="25"/>
          <p:cNvSpPr txBox="true"/>
          <p:nvPr/>
        </p:nvSpPr>
        <p:spPr>
          <a:xfrm rot="-131835">
            <a:off x="1919440" y="4660200"/>
            <a:ext cx="764855" cy="287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0"/>
              </a:lnSpc>
            </a:pPr>
            <a:r>
              <a:rPr lang="en-US" sz="1673">
                <a:solidFill>
                  <a:srgbClr val="F4F4F4">
                    <a:alpha val="7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backup</a:t>
            </a:r>
          </a:p>
        </p:txBody>
      </p:sp>
      <p:sp>
        <p:nvSpPr>
          <p:cNvPr name="TextBox 26" id="26"/>
          <p:cNvSpPr txBox="true"/>
          <p:nvPr/>
        </p:nvSpPr>
        <p:spPr>
          <a:xfrm rot="-131835">
            <a:off x="1919812" y="4244620"/>
            <a:ext cx="764855" cy="325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5"/>
              </a:lnSpc>
            </a:pPr>
            <a:r>
              <a:rPr lang="en-US" sz="1850">
                <a:solidFill>
                  <a:srgbClr val="F4F4F4">
                    <a:alpha val="7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shared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698016" y="3913961"/>
            <a:ext cx="3214688" cy="409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F4F4F4">
                    <a:alpha val="7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Data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698016" y="2453059"/>
            <a:ext cx="3214688" cy="409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F4F4F4">
                    <a:alpha val="7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Key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325549" y="3447304"/>
            <a:ext cx="509903" cy="273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4">
                <a:solidFill>
                  <a:srgbClr val="F4F4F4">
                    <a:alpha val="7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2024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325549" y="3869008"/>
            <a:ext cx="509903" cy="273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4">
                <a:solidFill>
                  <a:srgbClr val="F4F4F4">
                    <a:alpha val="7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2025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82995" y="1425314"/>
            <a:ext cx="8141124" cy="2024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41"/>
              </a:lnSpc>
            </a:pPr>
            <a:r>
              <a:rPr lang="en-US" sz="7221" spc="-70" b="true">
                <a:solidFill>
                  <a:srgbClr val="F4F4F4"/>
                </a:solidFill>
                <a:latin typeface="Inter Bold"/>
                <a:ea typeface="Inter Bold"/>
                <a:cs typeface="Inter Bold"/>
                <a:sym typeface="Inter Bold"/>
              </a:rPr>
              <a:t>Bucket: Nơi chứa và cấu hình chung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52505" y="4055432"/>
            <a:ext cx="7079921" cy="538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9824" indent="-369912" lvl="1">
              <a:lnSpc>
                <a:spcPts val="4456"/>
              </a:lnSpc>
              <a:buFont typeface="Arial"/>
              <a:buChar char="•"/>
            </a:pPr>
            <a:r>
              <a:rPr lang="en-US" sz="3428" spc="-33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Tạo bucket trước khi tải object.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54078" y="4898839"/>
            <a:ext cx="6922695" cy="538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9824" indent="-369912" lvl="1">
              <a:lnSpc>
                <a:spcPts val="4456"/>
              </a:lnSpc>
              <a:buFont typeface="Arial"/>
              <a:buChar char="•"/>
            </a:pPr>
            <a:r>
              <a:rPr lang="en-US" sz="3428" spc="-33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Chọn tên và một AWS Region.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6324" y="5757331"/>
            <a:ext cx="7698061" cy="1057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9824" indent="-369912" lvl="1">
              <a:lnSpc>
                <a:spcPts val="4456"/>
              </a:lnSpc>
              <a:buFont typeface="Arial"/>
              <a:buChar char="•"/>
            </a:pPr>
            <a:r>
              <a:rPr lang="en-US" sz="3428" spc="-33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Quyền truy cập và Versioning đặt ở cấp bucket.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50703" y="7127867"/>
            <a:ext cx="7260212" cy="1057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9824" indent="-369912" lvl="1">
              <a:lnSpc>
                <a:spcPts val="4456"/>
              </a:lnSpc>
              <a:buFont typeface="Arial"/>
              <a:buChar char="•"/>
            </a:pPr>
            <a:r>
              <a:rPr lang="en-US" sz="3428" spc="-33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Demo dùng một general purpose bucket riêng tư.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22075" y="9174785"/>
            <a:ext cx="6912020" cy="30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6"/>
              </a:lnSpc>
            </a:pPr>
            <a:r>
              <a:rPr lang="en-US" sz="2088" spc="-20">
                <a:solidFill>
                  <a:srgbClr val="F4F4F4">
                    <a:alpha val="7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AWS User Guide — General purpose buckets overview.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24880" y="1406172"/>
            <a:ext cx="11273755" cy="84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28"/>
              </a:lnSpc>
            </a:pPr>
            <a:r>
              <a:rPr lang="en-US" sz="6328" b="true">
                <a:solidFill>
                  <a:srgbClr val="F4F6FC"/>
                </a:solidFill>
                <a:latin typeface="Inter Heavy"/>
                <a:ea typeface="Inter Heavy"/>
                <a:cs typeface="Inter Heavy"/>
                <a:sym typeface="Inter Heavy"/>
              </a:rPr>
              <a:t>Bên trong một object có gì?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6574" y="2776725"/>
            <a:ext cx="4364182" cy="3869923"/>
          </a:xfrm>
          <a:custGeom>
            <a:avLst/>
            <a:gdLst/>
            <a:ahLst/>
            <a:cxnLst/>
            <a:rect r="r" b="b" t="t" l="l"/>
            <a:pathLst>
              <a:path h="3869923" w="4364182">
                <a:moveTo>
                  <a:pt x="0" y="0"/>
                </a:moveTo>
                <a:lnTo>
                  <a:pt x="4364182" y="0"/>
                </a:lnTo>
                <a:lnTo>
                  <a:pt x="4364182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35903" y="6835050"/>
            <a:ext cx="3382347" cy="422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5"/>
              </a:lnSpc>
            </a:pPr>
            <a:r>
              <a:rPr lang="en-US" sz="2812" b="true">
                <a:solidFill>
                  <a:srgbClr val="02DBEF"/>
                </a:solidFill>
                <a:latin typeface="Inter Bold"/>
                <a:ea typeface="Inter Bold"/>
                <a:cs typeface="Inter Bold"/>
                <a:sym typeface="Inter Bold"/>
              </a:rPr>
              <a:t>Dữ liệu: </a:t>
            </a:r>
            <a:r>
              <a:rPr lang="en-US" sz="2812">
                <a:solidFill>
                  <a:srgbClr val="F4F6FC"/>
                </a:solidFill>
                <a:latin typeface="Inter"/>
                <a:ea typeface="Inter"/>
                <a:cs typeface="Inter"/>
                <a:sym typeface="Inter"/>
              </a:rPr>
              <a:t>nội dung tệp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779818" y="2776725"/>
            <a:ext cx="4364182" cy="3869923"/>
          </a:xfrm>
          <a:custGeom>
            <a:avLst/>
            <a:gdLst/>
            <a:ahLst/>
            <a:cxnLst/>
            <a:rect r="r" b="b" t="t" l="l"/>
            <a:pathLst>
              <a:path h="3869923" w="4364182">
                <a:moveTo>
                  <a:pt x="0" y="0"/>
                </a:moveTo>
                <a:lnTo>
                  <a:pt x="4364182" y="0"/>
                </a:lnTo>
                <a:lnTo>
                  <a:pt x="4364182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158203">
            <a:off x="5223340" y="4487597"/>
            <a:ext cx="3359418" cy="475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1"/>
              </a:lnSpc>
            </a:pPr>
            <a:r>
              <a:rPr lang="en-US" sz="2300" spc="46" b="true">
                <a:solidFill>
                  <a:srgbClr val="F4F6FC"/>
                </a:solidFill>
                <a:latin typeface="Inter Bold"/>
                <a:ea typeface="Inter Bold"/>
                <a:cs typeface="Inter Bold"/>
                <a:sym typeface="Inter Bold"/>
              </a:rPr>
              <a:t>documents/report.pdf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9351818" y="2776725"/>
            <a:ext cx="4156364" cy="3869923"/>
          </a:xfrm>
          <a:custGeom>
            <a:avLst/>
            <a:gdLst/>
            <a:ahLst/>
            <a:cxnLst/>
            <a:rect r="r" b="b" t="t" l="l"/>
            <a:pathLst>
              <a:path h="3869923" w="4156364">
                <a:moveTo>
                  <a:pt x="0" y="0"/>
                </a:moveTo>
                <a:lnTo>
                  <a:pt x="4156364" y="0"/>
                </a:lnTo>
                <a:lnTo>
                  <a:pt x="4156364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101866" y="3848060"/>
            <a:ext cx="229694" cy="1945894"/>
          </a:xfrm>
          <a:custGeom>
            <a:avLst/>
            <a:gdLst/>
            <a:ahLst/>
            <a:cxnLst/>
            <a:rect r="r" b="b" t="t" l="l"/>
            <a:pathLst>
              <a:path h="1945894" w="229694">
                <a:moveTo>
                  <a:pt x="0" y="0"/>
                </a:moveTo>
                <a:lnTo>
                  <a:pt x="229694" y="0"/>
                </a:lnTo>
                <a:lnTo>
                  <a:pt x="229694" y="1945893"/>
                </a:lnTo>
                <a:lnTo>
                  <a:pt x="0" y="19458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158203">
            <a:off x="11323713" y="4238725"/>
            <a:ext cx="2032202" cy="1051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5"/>
              </a:lnSpc>
            </a:pPr>
            <a:r>
              <a:rPr lang="en-US" sz="1636" spc="32" b="true">
                <a:solidFill>
                  <a:srgbClr val="F4F6FC"/>
                </a:solidFill>
                <a:latin typeface="Inter Bold"/>
                <a:ea typeface="Inter Bold"/>
                <a:cs typeface="Inter Bold"/>
                <a:sym typeface="Inter Bold"/>
              </a:rPr>
              <a:t>application/pdf</a:t>
            </a:r>
          </a:p>
          <a:p>
            <a:pPr algn="l">
              <a:lnSpc>
                <a:spcPts val="2945"/>
              </a:lnSpc>
            </a:pPr>
            <a:r>
              <a:rPr lang="en-US" sz="1636" spc="32" b="true">
                <a:solidFill>
                  <a:srgbClr val="F4F6FC"/>
                </a:solidFill>
                <a:latin typeface="Inter Bold"/>
                <a:ea typeface="Inter Bold"/>
                <a:cs typeface="Inter Bold"/>
                <a:sym typeface="Inter Bold"/>
              </a:rPr>
              <a:t>1048576</a:t>
            </a:r>
          </a:p>
          <a:p>
            <a:pPr algn="l">
              <a:lnSpc>
                <a:spcPts val="2945"/>
              </a:lnSpc>
            </a:pPr>
            <a:r>
              <a:rPr lang="en-US" sz="1636" spc="32" b="true">
                <a:solidFill>
                  <a:srgbClr val="F4F6FC"/>
                </a:solidFill>
                <a:latin typeface="Inter Bold"/>
                <a:ea typeface="Inter Bold"/>
                <a:cs typeface="Inter Bold"/>
                <a:sym typeface="Inter Bold"/>
              </a:rPr>
              <a:t>Mon, 01 Jan 2024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3716000" y="2776725"/>
            <a:ext cx="4145426" cy="3869923"/>
          </a:xfrm>
          <a:custGeom>
            <a:avLst/>
            <a:gdLst/>
            <a:ahLst/>
            <a:cxnLst/>
            <a:rect r="r" b="b" t="t" l="l"/>
            <a:pathLst>
              <a:path h="3869923" w="4145426">
                <a:moveTo>
                  <a:pt x="0" y="0"/>
                </a:moveTo>
                <a:lnTo>
                  <a:pt x="4145426" y="0"/>
                </a:lnTo>
                <a:lnTo>
                  <a:pt x="4145426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842656" y="6856960"/>
            <a:ext cx="3407860" cy="885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5"/>
              </a:lnSpc>
            </a:pPr>
            <a:r>
              <a:rPr lang="en-US" sz="2812" b="true">
                <a:solidFill>
                  <a:srgbClr val="02DBEF"/>
                </a:solidFill>
                <a:latin typeface="Inter Bold"/>
                <a:ea typeface="Inter Bold"/>
                <a:cs typeface="Inter Bold"/>
                <a:sym typeface="Inter Bold"/>
              </a:rPr>
              <a:t>Version ID: </a:t>
            </a:r>
            <a:r>
              <a:rPr lang="en-US" sz="2812">
                <a:solidFill>
                  <a:srgbClr val="F4F6FC"/>
                </a:solidFill>
                <a:latin typeface="Inter"/>
                <a:ea typeface="Inter"/>
                <a:cs typeface="Inter"/>
                <a:sym typeface="Inter"/>
              </a:rPr>
              <a:t>phân biệt các phiên bản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40273" y="9149608"/>
            <a:ext cx="5624235" cy="355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3"/>
              </a:lnSpc>
            </a:pPr>
            <a:r>
              <a:rPr lang="en-US" sz="1883">
                <a:solidFill>
                  <a:srgbClr val="F4F6FC">
                    <a:alpha val="6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AWS User Guide — Amazon S3 objects overview.</a:t>
            </a:r>
          </a:p>
        </p:txBody>
      </p:sp>
      <p:sp>
        <p:nvSpPr>
          <p:cNvPr name="TextBox 14" id="14"/>
          <p:cNvSpPr txBox="true"/>
          <p:nvPr/>
        </p:nvSpPr>
        <p:spPr>
          <a:xfrm rot="158203">
            <a:off x="9514854" y="3972166"/>
            <a:ext cx="2678906" cy="1461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9"/>
              </a:lnSpc>
            </a:pPr>
            <a:r>
              <a:rPr lang="en-US" sz="2250" spc="45" b="true">
                <a:solidFill>
                  <a:srgbClr val="F4F6FC"/>
                </a:solidFill>
                <a:latin typeface="Inter Bold"/>
                <a:ea typeface="Inter Bold"/>
                <a:cs typeface="Inter Bold"/>
                <a:sym typeface="Inter Bold"/>
              </a:rPr>
              <a:t>Content-Type</a:t>
            </a:r>
          </a:p>
          <a:p>
            <a:pPr algn="l">
              <a:lnSpc>
                <a:spcPts val="4049"/>
              </a:lnSpc>
            </a:pPr>
            <a:r>
              <a:rPr lang="en-US" sz="2250" spc="45" b="true">
                <a:solidFill>
                  <a:srgbClr val="F4F6FC"/>
                </a:solidFill>
                <a:latin typeface="Inter Bold"/>
                <a:ea typeface="Inter Bold"/>
                <a:cs typeface="Inter Bold"/>
                <a:sym typeface="Inter Bold"/>
              </a:rPr>
              <a:t>Content-Length</a:t>
            </a:r>
          </a:p>
          <a:p>
            <a:pPr algn="l">
              <a:lnSpc>
                <a:spcPts val="4049"/>
              </a:lnSpc>
            </a:pPr>
            <a:r>
              <a:rPr lang="en-US" sz="2250" spc="45" b="true">
                <a:solidFill>
                  <a:srgbClr val="F4F6FC"/>
                </a:solidFill>
                <a:latin typeface="Inter Bold"/>
                <a:ea typeface="Inter Bold"/>
                <a:cs typeface="Inter Bold"/>
                <a:sym typeface="Inter Bold"/>
              </a:rPr>
              <a:t>Last-Modified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051886"/>
            <a:ext cx="8591211" cy="1014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7"/>
              </a:lnSpc>
            </a:pPr>
            <a:r>
              <a:rPr lang="en-US" sz="6960" spc="-67" b="true">
                <a:solidFill>
                  <a:srgbClr val="F4F6FC"/>
                </a:solidFill>
                <a:latin typeface="Inter Bold"/>
                <a:ea typeface="Inter Bold"/>
                <a:cs typeface="Inter Bold"/>
                <a:sym typeface="Inter Bold"/>
              </a:rPr>
              <a:t>Key và prefix: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24916" y="5400952"/>
            <a:ext cx="6349897" cy="491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5"/>
              </a:lnSpc>
            </a:pPr>
            <a:r>
              <a:rPr lang="en-US" sz="3254" spc="-65">
                <a:solidFill>
                  <a:srgbClr val="F4F6FC"/>
                </a:solidFill>
                <a:latin typeface="Inter"/>
                <a:ea typeface="Inter"/>
                <a:cs typeface="Inter"/>
                <a:sym typeface="Inter"/>
              </a:rPr>
              <a:t>Key xác định object trong bucket.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24916" y="6610186"/>
            <a:ext cx="10309634" cy="491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5"/>
              </a:lnSpc>
            </a:pPr>
            <a:r>
              <a:rPr lang="en-US" sz="3254" spc="-65">
                <a:solidFill>
                  <a:srgbClr val="F4F6FC"/>
                </a:solidFill>
                <a:latin typeface="Inter"/>
                <a:ea typeface="Inter"/>
                <a:cs typeface="Inter"/>
                <a:sym typeface="Inter"/>
              </a:rPr>
              <a:t>Prefix giúp nhóm các key có phần đầu giống nhau.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1393" y="8999591"/>
            <a:ext cx="6622420" cy="348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sz="2337" spc="-46" b="true">
                <a:solidFill>
                  <a:srgbClr val="F4F6FC">
                    <a:alpha val="60000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AWS User Guide — Naming Amazon S3 objects.</a:t>
            </a:r>
          </a:p>
        </p:txBody>
      </p:sp>
      <p:sp>
        <p:nvSpPr>
          <p:cNvPr name="TextBox 7" id="7"/>
          <p:cNvSpPr txBox="true"/>
          <p:nvPr/>
        </p:nvSpPr>
        <p:spPr>
          <a:xfrm rot="-142382">
            <a:off x="13622404" y="2572597"/>
            <a:ext cx="1342583" cy="418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8"/>
              </a:lnSpc>
            </a:pPr>
            <a:r>
              <a:rPr lang="en-US" b="true" sz="2906" i="true" spc="-58">
                <a:solidFill>
                  <a:srgbClr val="FFFFFF"/>
                </a:solidFill>
                <a:latin typeface="Inter Semi-Bold Italics"/>
                <a:ea typeface="Inter Semi-Bold Italics"/>
                <a:cs typeface="Inter Semi-Bold Italics"/>
                <a:sym typeface="Inter Semi-Bold Italics"/>
              </a:rPr>
              <a:t>Objects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3716000" y="4066699"/>
            <a:ext cx="437512" cy="655919"/>
          </a:xfrm>
          <a:custGeom>
            <a:avLst/>
            <a:gdLst/>
            <a:ahLst/>
            <a:cxnLst/>
            <a:rect r="r" b="b" t="t" l="l"/>
            <a:pathLst>
              <a:path h="655919" w="437512">
                <a:moveTo>
                  <a:pt x="0" y="0"/>
                </a:moveTo>
                <a:lnTo>
                  <a:pt x="437512" y="0"/>
                </a:lnTo>
                <a:lnTo>
                  <a:pt x="43751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497244" y="4919394"/>
            <a:ext cx="656268" cy="655919"/>
          </a:xfrm>
          <a:custGeom>
            <a:avLst/>
            <a:gdLst/>
            <a:ahLst/>
            <a:cxnLst/>
            <a:rect r="r" b="b" t="t" l="l"/>
            <a:pathLst>
              <a:path h="655919" w="656268">
                <a:moveTo>
                  <a:pt x="0" y="0"/>
                </a:moveTo>
                <a:lnTo>
                  <a:pt x="656268" y="0"/>
                </a:lnTo>
                <a:lnTo>
                  <a:pt x="656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497244" y="5564382"/>
            <a:ext cx="437512" cy="655919"/>
          </a:xfrm>
          <a:custGeom>
            <a:avLst/>
            <a:gdLst/>
            <a:ahLst/>
            <a:cxnLst/>
            <a:rect r="r" b="b" t="t" l="l"/>
            <a:pathLst>
              <a:path h="655919" w="437512">
                <a:moveTo>
                  <a:pt x="0" y="0"/>
                </a:moveTo>
                <a:lnTo>
                  <a:pt x="437512" y="0"/>
                </a:lnTo>
                <a:lnTo>
                  <a:pt x="43751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205664">
            <a:off x="14203753" y="5866972"/>
            <a:ext cx="2337485" cy="303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1"/>
              </a:lnSpc>
            </a:pPr>
            <a:r>
              <a:rPr lang="en-US" sz="2067" spc="-41">
                <a:solidFill>
                  <a:srgbClr val="FFFFFF">
                    <a:alpha val="84706"/>
                  </a:srgbClr>
                </a:solidFill>
                <a:latin typeface="Inter"/>
                <a:ea typeface="Inter"/>
                <a:cs typeface="Inter"/>
                <a:sym typeface="Inter"/>
              </a:rPr>
              <a:t>ke-hoach-nhom.txt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3497244" y="6428009"/>
            <a:ext cx="437512" cy="644987"/>
          </a:xfrm>
          <a:custGeom>
            <a:avLst/>
            <a:gdLst/>
            <a:ahLst/>
            <a:cxnLst/>
            <a:rect r="r" b="b" t="t" l="l"/>
            <a:pathLst>
              <a:path h="644987" w="437512">
                <a:moveTo>
                  <a:pt x="0" y="0"/>
                </a:moveTo>
                <a:lnTo>
                  <a:pt x="437512" y="0"/>
                </a:lnTo>
                <a:lnTo>
                  <a:pt x="437512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284765">
            <a:off x="14095804" y="6695318"/>
            <a:ext cx="2498635" cy="303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1"/>
              </a:lnSpc>
            </a:pPr>
            <a:r>
              <a:rPr lang="en-US" sz="2067" spc="-41">
                <a:solidFill>
                  <a:srgbClr val="FFFFFF">
                    <a:alpha val="84706"/>
                  </a:srgbClr>
                </a:solidFill>
                <a:latin typeface="Inter"/>
                <a:ea typeface="Inter"/>
                <a:cs typeface="Inter"/>
                <a:sym typeface="Inter"/>
              </a:rPr>
              <a:t>tai-lieu/ke-hoach.txt</a:t>
            </a:r>
          </a:p>
        </p:txBody>
      </p:sp>
      <p:sp>
        <p:nvSpPr>
          <p:cNvPr name="TextBox 14" id="14"/>
          <p:cNvSpPr txBox="true"/>
          <p:nvPr/>
        </p:nvSpPr>
        <p:spPr>
          <a:xfrm rot="205664">
            <a:off x="14295573" y="5053686"/>
            <a:ext cx="1192148" cy="303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1"/>
              </a:lnSpc>
            </a:pPr>
            <a:r>
              <a:rPr lang="en-US" sz="2067" spc="-41">
                <a:solidFill>
                  <a:srgbClr val="FFFFFF">
                    <a:alpha val="84706"/>
                  </a:srgbClr>
                </a:solidFill>
                <a:latin typeface="Inter"/>
                <a:ea typeface="Inter"/>
                <a:cs typeface="Inter"/>
                <a:sym typeface="Inter"/>
              </a:rPr>
              <a:t>hình-anh/</a:t>
            </a:r>
          </a:p>
        </p:txBody>
      </p:sp>
      <p:sp>
        <p:nvSpPr>
          <p:cNvPr name="TextBox 15" id="15"/>
          <p:cNvSpPr txBox="true"/>
          <p:nvPr/>
        </p:nvSpPr>
        <p:spPr>
          <a:xfrm rot="68554">
            <a:off x="14377070" y="4285583"/>
            <a:ext cx="936886" cy="303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1"/>
              </a:lnSpc>
            </a:pPr>
            <a:r>
              <a:rPr lang="en-US" sz="2067" i="true" spc="-41">
                <a:solidFill>
                  <a:srgbClr val="FFFFFF">
                    <a:alpha val="84706"/>
                  </a:srgbClr>
                </a:solidFill>
                <a:latin typeface="Inter Italics"/>
                <a:ea typeface="Inter Italics"/>
                <a:cs typeface="Inter Italics"/>
                <a:sym typeface="Inter Italics"/>
              </a:rPr>
              <a:t>tai-lieu/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796367" y="3532018"/>
            <a:ext cx="3268266" cy="321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6"/>
              </a:lnSpc>
            </a:pPr>
            <a:r>
              <a:rPr lang="en-US" sz="2205" spc="-44">
                <a:solidFill>
                  <a:srgbClr val="FFFFFF">
                    <a:alpha val="84706"/>
                  </a:srgbClr>
                </a:solidFill>
                <a:latin typeface="Inter"/>
                <a:ea typeface="Inter"/>
                <a:cs typeface="Inter"/>
                <a:sym typeface="Inter"/>
              </a:rPr>
              <a:t>Name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97479" y="967992"/>
            <a:ext cx="10619291" cy="3069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75"/>
              </a:lnSpc>
            </a:pPr>
            <a:r>
              <a:rPr lang="en-US" sz="7343" spc="-71" b="true">
                <a:solidFill>
                  <a:srgbClr val="F4F6FC"/>
                </a:solidFill>
                <a:latin typeface="Inter Bold"/>
                <a:ea typeface="Inter Bold"/>
                <a:cs typeface="Inter Bold"/>
                <a:sym typeface="Inter Bold"/>
              </a:rPr>
              <a:t>Region và</a:t>
            </a:r>
          </a:p>
          <a:p>
            <a:pPr algn="l">
              <a:lnSpc>
                <a:spcPts val="8075"/>
              </a:lnSpc>
            </a:pPr>
            <a:r>
              <a:rPr lang="en-US" sz="7343" spc="-71" b="true">
                <a:solidFill>
                  <a:srgbClr val="F4F6FC"/>
                </a:solidFill>
                <a:latin typeface="Inter Bold"/>
                <a:ea typeface="Inter Bold"/>
                <a:cs typeface="Inter Bold"/>
                <a:sym typeface="Inter Bold"/>
              </a:rPr>
              <a:t>Availability Zone:</a:t>
            </a:r>
          </a:p>
          <a:p>
            <a:pPr algn="l">
              <a:lnSpc>
                <a:spcPts val="8075"/>
              </a:lnSpc>
            </a:pPr>
            <a:r>
              <a:rPr lang="en-US" sz="7343" spc="-71" b="true">
                <a:solidFill>
                  <a:srgbClr val="F4F6FC"/>
                </a:solidFill>
                <a:latin typeface="Inter Bold"/>
                <a:ea typeface="Inter Bold"/>
                <a:cs typeface="Inter Bold"/>
                <a:sym typeface="Inter Bold"/>
              </a:rPr>
              <a:t>Dữ liệu được đặt ở đâu?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82394" y="4626411"/>
            <a:ext cx="8017680" cy="499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2122" indent="-366061" lvl="1">
              <a:lnSpc>
                <a:spcPts val="4071"/>
              </a:lnSpc>
              <a:buFont typeface="Arial"/>
              <a:buChar char="•"/>
            </a:pPr>
            <a:r>
              <a:rPr lang="en-US" sz="3392" spc="-33">
                <a:solidFill>
                  <a:srgbClr val="F4F6FC"/>
                </a:solidFill>
                <a:latin typeface="Inter"/>
                <a:ea typeface="Inter"/>
                <a:cs typeface="Inter"/>
                <a:sym typeface="Inter"/>
              </a:rPr>
              <a:t>Region: một khu vực địa lý của AWS.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1404" y="5515001"/>
            <a:ext cx="10116666" cy="499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2122" indent="-366061" lvl="1">
              <a:lnSpc>
                <a:spcPts val="4071"/>
              </a:lnSpc>
              <a:buFont typeface="Arial"/>
              <a:buChar char="•"/>
            </a:pPr>
            <a:r>
              <a:rPr lang="en-US" sz="3392" spc="-33">
                <a:solidFill>
                  <a:srgbClr val="F4F6FC"/>
                </a:solidFill>
                <a:latin typeface="Inter"/>
                <a:ea typeface="Inter"/>
                <a:cs typeface="Inter"/>
                <a:sym typeface="Inter"/>
              </a:rPr>
              <a:t>AZ: một hoặc nhiều trung tâm dữ liệu tách biệt.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70447" y="6403590"/>
            <a:ext cx="9212343" cy="499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2122" indent="-366061" lvl="1">
              <a:lnSpc>
                <a:spcPts val="4071"/>
              </a:lnSpc>
              <a:buFont typeface="Arial"/>
              <a:buChar char="•"/>
            </a:pPr>
            <a:r>
              <a:rPr lang="en-US" sz="3392" spc="-33">
                <a:solidFill>
                  <a:srgbClr val="F4F6FC"/>
                </a:solidFill>
                <a:latin typeface="Inter"/>
                <a:ea typeface="Inter"/>
                <a:cs typeface="Inter"/>
                <a:sym typeface="Inter"/>
              </a:rPr>
              <a:t>S3 Standard lưu dữ liệu trên ít nhất ba AZ.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7172" y="7307241"/>
            <a:ext cx="10539857" cy="499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2122" indent="-366061" lvl="1">
              <a:lnSpc>
                <a:spcPts val="4071"/>
              </a:lnSpc>
              <a:buFont typeface="Arial"/>
              <a:buChar char="•"/>
            </a:pPr>
            <a:r>
              <a:rPr lang="en-US" sz="3392" spc="-33">
                <a:solidFill>
                  <a:srgbClr val="F4F6FC"/>
                </a:solidFill>
                <a:latin typeface="Inter"/>
                <a:ea typeface="Inter"/>
                <a:cs typeface="Inter"/>
                <a:sym typeface="Inter"/>
              </a:rPr>
              <a:t>Chọn Region theo vị trí, chi phí và yêu cầu dữ liệu.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41288" y="9345990"/>
            <a:ext cx="8917285" cy="295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0"/>
              </a:lnSpc>
            </a:pPr>
            <a:r>
              <a:rPr lang="en-US" sz="1933" spc="-18">
                <a:solidFill>
                  <a:srgbClr val="F4F6FC">
                    <a:alpha val="7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AWS — Regions and Availability Zones; AWS — S3 storage class comparison.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23738" y="1775322"/>
            <a:ext cx="8708991" cy="2379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72"/>
              </a:lnSpc>
            </a:pPr>
            <a:r>
              <a:rPr lang="en-US" sz="8614" spc="-84" b="true">
                <a:solidFill>
                  <a:srgbClr val="F4F6FC"/>
                </a:solidFill>
                <a:latin typeface="Inter Bold"/>
                <a:ea typeface="Inter Bold"/>
                <a:cs typeface="Inter Bold"/>
                <a:sym typeface="Inter Bold"/>
              </a:rPr>
              <a:t>Bốn thao tác</a:t>
            </a:r>
          </a:p>
          <a:p>
            <a:pPr algn="l">
              <a:lnSpc>
                <a:spcPts val="9472"/>
              </a:lnSpc>
            </a:pPr>
            <a:r>
              <a:rPr lang="en-US" sz="8614" spc="-84" b="true">
                <a:solidFill>
                  <a:srgbClr val="F4F6FC"/>
                </a:solidFill>
                <a:latin typeface="Inter Bold"/>
                <a:ea typeface="Inter Bold"/>
                <a:cs typeface="Inter Bold"/>
                <a:sym typeface="Inter Bold"/>
              </a:rPr>
              <a:t>cơ bản với object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63084" y="4593000"/>
            <a:ext cx="3178276" cy="631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42"/>
              </a:lnSpc>
            </a:pPr>
            <a:r>
              <a:rPr lang="en-US" sz="3339" spc="-32" b="true">
                <a:solidFill>
                  <a:srgbClr val="F4F6FC"/>
                </a:solidFill>
                <a:latin typeface="Inter Bold"/>
                <a:ea typeface="Inter Bold"/>
                <a:cs typeface="Inter Bold"/>
                <a:sym typeface="Inter Bold"/>
              </a:rPr>
              <a:t>PUT: </a:t>
            </a:r>
            <a:r>
              <a:rPr lang="en-US" sz="3339" spc="-32">
                <a:solidFill>
                  <a:srgbClr val="F4F6FC"/>
                </a:solidFill>
                <a:latin typeface="Inter"/>
                <a:ea typeface="Inter"/>
                <a:cs typeface="Inter"/>
                <a:sym typeface="Inter"/>
              </a:rPr>
              <a:t>ghi object.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87185" y="5436407"/>
            <a:ext cx="401080" cy="631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42"/>
              </a:lnSpc>
            </a:pPr>
            <a:r>
              <a:rPr lang="en-US" sz="3339" spc="-32" b="true">
                <a:solidFill>
                  <a:srgbClr val="1ED8E8"/>
                </a:solidFill>
                <a:latin typeface="Inter Bold"/>
                <a:ea typeface="Inter Bold"/>
                <a:cs typeface="Inter Bold"/>
                <a:sym typeface="Inter Bold"/>
              </a:rPr>
              <a:t>2.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44999" y="5436407"/>
            <a:ext cx="4986850" cy="631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42"/>
              </a:lnSpc>
            </a:pPr>
            <a:r>
              <a:rPr lang="en-US" sz="3339" spc="-32" b="true">
                <a:solidFill>
                  <a:srgbClr val="F4F6FC"/>
                </a:solidFill>
                <a:latin typeface="Inter Bold"/>
                <a:ea typeface="Inter Bold"/>
                <a:cs typeface="Inter Bold"/>
                <a:sym typeface="Inter Bold"/>
              </a:rPr>
              <a:t>GET: </a:t>
            </a:r>
            <a:r>
              <a:rPr lang="en-US" sz="3339" spc="-32">
                <a:solidFill>
                  <a:srgbClr val="F4F6FC"/>
                </a:solidFill>
                <a:latin typeface="Inter"/>
                <a:ea typeface="Inter"/>
                <a:cs typeface="Inter"/>
                <a:sym typeface="Inter"/>
              </a:rPr>
              <a:t>lấy nội dung object.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7108" y="6279814"/>
            <a:ext cx="408726" cy="631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42"/>
              </a:lnSpc>
            </a:pPr>
            <a:r>
              <a:rPr lang="en-US" sz="3339" spc="-32" b="true">
                <a:solidFill>
                  <a:srgbClr val="1ED8E8"/>
                </a:solidFill>
                <a:latin typeface="Inter Bold"/>
                <a:ea typeface="Inter Bold"/>
                <a:cs typeface="Inter Bold"/>
                <a:sym typeface="Inter Bold"/>
              </a:rPr>
              <a:t>3.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38310" y="6279814"/>
            <a:ext cx="5655756" cy="631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42"/>
              </a:lnSpc>
            </a:pPr>
            <a:r>
              <a:rPr lang="en-US" sz="3339" spc="-32" b="true">
                <a:solidFill>
                  <a:srgbClr val="F4F6FC"/>
                </a:solidFill>
                <a:latin typeface="Inter Bold"/>
                <a:ea typeface="Inter Bold"/>
                <a:cs typeface="Inter Bold"/>
                <a:sym typeface="Inter Bold"/>
              </a:rPr>
              <a:t>LIST: </a:t>
            </a:r>
            <a:r>
              <a:rPr lang="en-US" sz="3339" spc="-32">
                <a:solidFill>
                  <a:srgbClr val="F4F6FC"/>
                </a:solidFill>
                <a:latin typeface="Inter"/>
                <a:ea typeface="Inter"/>
                <a:cs typeface="Inter"/>
                <a:sym typeface="Inter"/>
              </a:rPr>
              <a:t>xem danh sách object.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86964" y="7108160"/>
            <a:ext cx="423144" cy="631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42"/>
              </a:lnSpc>
            </a:pPr>
            <a:r>
              <a:rPr lang="en-US" sz="3339" spc="-32" b="true">
                <a:solidFill>
                  <a:srgbClr val="1ED8E8"/>
                </a:solidFill>
                <a:latin typeface="Inter Bold"/>
                <a:ea typeface="Inter Bold"/>
                <a:cs typeface="Inter Bold"/>
                <a:sym typeface="Inter Bold"/>
              </a:rPr>
              <a:t>4.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15615" y="7108160"/>
            <a:ext cx="7925265" cy="631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42"/>
              </a:lnSpc>
            </a:pPr>
            <a:r>
              <a:rPr lang="en-US" sz="3339" spc="-32" b="true">
                <a:solidFill>
                  <a:srgbClr val="F4F6FC"/>
                </a:solidFill>
                <a:latin typeface="Inter Bold"/>
                <a:ea typeface="Inter Bold"/>
                <a:cs typeface="Inter Bold"/>
                <a:sym typeface="Inter Bold"/>
              </a:rPr>
              <a:t>DELETE: </a:t>
            </a:r>
            <a:r>
              <a:rPr lang="en-US" sz="3339" spc="-32">
                <a:solidFill>
                  <a:srgbClr val="F4F6FC"/>
                </a:solidFill>
                <a:latin typeface="Inter"/>
                <a:ea typeface="Inter"/>
                <a:cs typeface="Inter"/>
                <a:sym typeface="Inter"/>
              </a:rPr>
              <a:t>xóa theo trạng thái Versioning.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1195" y="8494865"/>
            <a:ext cx="9617273" cy="484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26"/>
              </a:lnSpc>
            </a:pPr>
            <a:r>
              <a:rPr lang="en-US" sz="3955" spc="-38" b="true">
                <a:solidFill>
                  <a:srgbClr val="F4F6FC">
                    <a:alpha val="74902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AWS API Reference: PutObject, GetObject, ListObjectsV2, DeleteObject.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8082" y="4593000"/>
            <a:ext cx="311295" cy="631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42"/>
              </a:lnSpc>
            </a:pPr>
            <a:r>
              <a:rPr lang="en-US" sz="3339" spc="-32" b="true">
                <a:solidFill>
                  <a:srgbClr val="1ED8E8"/>
                </a:solidFill>
                <a:latin typeface="Inter Bold"/>
                <a:ea typeface="Inter Bold"/>
                <a:cs typeface="Inter Bold"/>
                <a:sym typeface="Inter Bold"/>
              </a:rPr>
              <a:t>1.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15025" y="1448574"/>
            <a:ext cx="9580266" cy="2784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47"/>
              </a:lnSpc>
            </a:pPr>
            <a:r>
              <a:rPr lang="en-US" sz="6205" spc="-124" b="true">
                <a:solidFill>
                  <a:srgbClr val="F0F4F8"/>
                </a:solidFill>
                <a:latin typeface="Inter Bold"/>
                <a:ea typeface="Inter Bold"/>
                <a:cs typeface="Inter Bold"/>
                <a:sym typeface="Inter Bold"/>
              </a:rPr>
              <a:t>Khả năng mở rộng:</a:t>
            </a:r>
          </a:p>
          <a:p>
            <a:pPr algn="l">
              <a:lnSpc>
                <a:spcPts val="7447"/>
              </a:lnSpc>
            </a:pPr>
            <a:r>
              <a:rPr lang="en-US" sz="6205" spc="-124" b="true">
                <a:solidFill>
                  <a:srgbClr val="F0F4F8"/>
                </a:solidFill>
                <a:latin typeface="Inter Bold"/>
                <a:ea typeface="Inter Bold"/>
                <a:cs typeface="Inter Bold"/>
                <a:sym typeface="Inter Bold"/>
              </a:rPr>
              <a:t>Tăng dữ liệu mà ít quản trị phần cứng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75576" y="4788721"/>
            <a:ext cx="6736173" cy="580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0741" indent="-360371" lvl="1">
              <a:lnSpc>
                <a:spcPts val="5342"/>
              </a:lnSpc>
              <a:buFont typeface="Arial"/>
              <a:buChar char="•"/>
            </a:pPr>
            <a:r>
              <a:rPr lang="en-US" sz="3339" spc="-32">
                <a:solidFill>
                  <a:srgbClr val="F0F4F8"/>
                </a:solidFill>
                <a:latin typeface="Inter"/>
                <a:ea typeface="Inter"/>
                <a:cs typeface="Inter"/>
                <a:sym typeface="Inter"/>
              </a:rPr>
              <a:t>Lưu số lượng object theo nhu cầu.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64697" y="5571885"/>
            <a:ext cx="7824007" cy="580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0741" indent="-360371" lvl="1">
              <a:lnSpc>
                <a:spcPts val="5342"/>
              </a:lnSpc>
              <a:buFont typeface="Arial"/>
              <a:buChar char="•"/>
            </a:pPr>
            <a:r>
              <a:rPr lang="en-US" sz="3339" spc="-32">
                <a:solidFill>
                  <a:srgbClr val="F0F4F8"/>
                </a:solidFill>
                <a:latin typeface="Inter"/>
                <a:ea typeface="Inter"/>
                <a:cs typeface="Inter"/>
                <a:sym typeface="Inter"/>
              </a:rPr>
              <a:t>AWS vận hành hạ tầng lưu trữ bên dưới.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51327" y="6339988"/>
            <a:ext cx="9161026" cy="580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0741" indent="-360371" lvl="1">
              <a:lnSpc>
                <a:spcPts val="5342"/>
              </a:lnSpc>
              <a:buFont typeface="Arial"/>
              <a:buChar char="•"/>
            </a:pPr>
            <a:r>
              <a:rPr lang="en-US" sz="3339" spc="-32">
                <a:solidFill>
                  <a:srgbClr val="F0F4F8"/>
                </a:solidFill>
                <a:latin typeface="Inter"/>
                <a:ea typeface="Inter"/>
                <a:cs typeface="Inter"/>
                <a:sym typeface="Inter"/>
              </a:rPr>
              <a:t>Hiệu năng mở rộng theo tải và thiết kế truy cập.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45179" y="7123152"/>
            <a:ext cx="9775846" cy="580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0741" indent="-360371" lvl="1">
              <a:lnSpc>
                <a:spcPts val="5342"/>
              </a:lnSpc>
              <a:buFont typeface="Arial"/>
              <a:buChar char="•"/>
            </a:pPr>
            <a:r>
              <a:rPr lang="en-US" sz="3339" spc="-32">
                <a:solidFill>
                  <a:srgbClr val="F0F4F8"/>
                </a:solidFill>
                <a:latin typeface="Inter"/>
                <a:ea typeface="Inter"/>
                <a:cs typeface="Inter"/>
                <a:sym typeface="Inter"/>
              </a:rPr>
              <a:t>Mạng, kích thước tệp và cách dùng vẫn ảnh hưởng.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0828" y="8624657"/>
            <a:ext cx="8117086" cy="837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 spc="-45">
                <a:solidFill>
                  <a:srgbClr val="F0F4F8"/>
                </a:solidFill>
                <a:latin typeface="Inter"/>
                <a:ea typeface="Inter"/>
                <a:cs typeface="Inter"/>
                <a:sym typeface="Inter"/>
              </a:rPr>
              <a:t>AWS User Guide — Optimizing Amazon S3 performance; AWS — Uploading objects.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7941" y="338237"/>
            <a:ext cx="14894198" cy="1768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06"/>
              </a:lnSpc>
            </a:pPr>
            <a:r>
              <a:rPr lang="en-US" sz="6177" spc="-123" b="true">
                <a:solidFill>
                  <a:srgbClr val="FFFF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Giữ được dữ liệu và truy cập được dữ liệu</a:t>
            </a:r>
          </a:p>
          <a:p>
            <a:pPr algn="l">
              <a:lnSpc>
                <a:spcPts val="7106"/>
              </a:lnSpc>
            </a:pPr>
            <a:r>
              <a:rPr lang="en-US" sz="6177" spc="-123" b="true">
                <a:solidFill>
                  <a:srgbClr val="FFFF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là hai việc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6574" y="2350377"/>
            <a:ext cx="8717426" cy="4722618"/>
          </a:xfrm>
          <a:custGeom>
            <a:avLst/>
            <a:gdLst/>
            <a:ahLst/>
            <a:cxnLst/>
            <a:rect r="r" b="b" t="t" l="l"/>
            <a:pathLst>
              <a:path h="4722618" w="8717426">
                <a:moveTo>
                  <a:pt x="0" y="0"/>
                </a:moveTo>
                <a:lnTo>
                  <a:pt x="8717426" y="0"/>
                </a:lnTo>
                <a:lnTo>
                  <a:pt x="8717426" y="4722619"/>
                </a:lnTo>
                <a:lnTo>
                  <a:pt x="0" y="47226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00653" y="2847705"/>
            <a:ext cx="3696416" cy="12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80"/>
              </a:lnSpc>
            </a:pPr>
            <a:r>
              <a:rPr lang="en-US" sz="4763" spc="-95" b="true">
                <a:solidFill>
                  <a:srgbClr val="02CD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Durability —</a:t>
            </a:r>
          </a:p>
          <a:p>
            <a:pPr algn="l">
              <a:lnSpc>
                <a:spcPts val="5480"/>
              </a:lnSpc>
            </a:pPr>
            <a:r>
              <a:rPr lang="en-US" sz="4763" spc="-95" b="true">
                <a:solidFill>
                  <a:srgbClr val="FFFF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độ bền dữ liệu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91895" y="4530512"/>
            <a:ext cx="4572186" cy="363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566" spc="-51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S3 Standard: được thiết kế cho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5880" y="5007095"/>
            <a:ext cx="6173695" cy="856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06"/>
              </a:lnSpc>
            </a:pPr>
            <a:r>
              <a:rPr lang="en-US" sz="6177" spc="-123" b="true">
                <a:solidFill>
                  <a:srgbClr val="02CD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99.999999999%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9351818" y="2350377"/>
            <a:ext cx="8509608" cy="4722618"/>
          </a:xfrm>
          <a:custGeom>
            <a:avLst/>
            <a:gdLst/>
            <a:ahLst/>
            <a:cxnLst/>
            <a:rect r="r" b="b" t="t" l="l"/>
            <a:pathLst>
              <a:path h="4722618" w="8509608">
                <a:moveTo>
                  <a:pt x="0" y="0"/>
                </a:moveTo>
                <a:lnTo>
                  <a:pt x="8509608" y="0"/>
                </a:lnTo>
                <a:lnTo>
                  <a:pt x="8509608" y="4722619"/>
                </a:lnTo>
                <a:lnTo>
                  <a:pt x="0" y="47226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849024" y="2847705"/>
            <a:ext cx="3614001" cy="12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80"/>
              </a:lnSpc>
            </a:pPr>
            <a:r>
              <a:rPr lang="en-US" sz="4763" spc="-95" b="true">
                <a:solidFill>
                  <a:srgbClr val="F48428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Availability —</a:t>
            </a:r>
          </a:p>
          <a:p>
            <a:pPr algn="l">
              <a:lnSpc>
                <a:spcPts val="5480"/>
              </a:lnSpc>
            </a:pPr>
            <a:r>
              <a:rPr lang="en-US" sz="4763" spc="-95" b="true">
                <a:solidFill>
                  <a:srgbClr val="FFFF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độ sẵn sàng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39442" y="4530512"/>
            <a:ext cx="4572186" cy="363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566" spc="-51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S3 Standard: được thiết kế cho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54771" y="4946856"/>
            <a:ext cx="3039343" cy="912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06"/>
              </a:lnSpc>
            </a:pPr>
            <a:r>
              <a:rPr lang="en-US" sz="6177" spc="-123" b="true">
                <a:solidFill>
                  <a:srgbClr val="F48428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99.99%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64500" y="5936790"/>
            <a:ext cx="2066399" cy="410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3"/>
              </a:lnSpc>
            </a:pPr>
            <a:r>
              <a:rPr lang="en-US" sz="2784" spc="-55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độ sẵn sàng.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426574" y="7062064"/>
            <a:ext cx="17434852" cy="2372241"/>
          </a:xfrm>
          <a:custGeom>
            <a:avLst/>
            <a:gdLst/>
            <a:ahLst/>
            <a:cxnLst/>
            <a:rect r="r" b="b" t="t" l="l"/>
            <a:pathLst>
              <a:path h="2372241" w="17434852">
                <a:moveTo>
                  <a:pt x="0" y="0"/>
                </a:moveTo>
                <a:lnTo>
                  <a:pt x="17434852" y="0"/>
                </a:lnTo>
                <a:lnTo>
                  <a:pt x="17434852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06321" y="7697288"/>
            <a:ext cx="3129661" cy="679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80"/>
              </a:lnSpc>
            </a:pPr>
            <a:r>
              <a:rPr lang="en-US" sz="4763" spc="-95" b="true">
                <a:solidFill>
                  <a:srgbClr val="02CD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Versioning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126044" y="7697293"/>
            <a:ext cx="7983866" cy="642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80"/>
              </a:lnSpc>
            </a:pPr>
            <a:r>
              <a:rPr lang="en-US" sz="4763" spc="-95" b="true">
                <a:solidFill>
                  <a:srgbClr val="FFFF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vẫn cần để xử lý ghi dè nhầm.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077170" y="8328783"/>
            <a:ext cx="507267" cy="437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9"/>
              </a:lnSpc>
            </a:pPr>
            <a:r>
              <a:rPr lang="en-US" sz="2990" spc="-59" b="true">
                <a:solidFill>
                  <a:srgbClr val="030C1B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v2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077170" y="8832335"/>
            <a:ext cx="507267" cy="605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17"/>
              </a:lnSpc>
            </a:pPr>
            <a:r>
              <a:rPr lang="en-US" sz="4100" spc="-82" b="true">
                <a:solidFill>
                  <a:srgbClr val="030C1B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v1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39484" y="9611564"/>
            <a:ext cx="5703204" cy="280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4"/>
              </a:lnSpc>
            </a:pPr>
            <a:r>
              <a:rPr lang="en-US" sz="1951" spc="-39">
                <a:solidFill>
                  <a:srgbClr val="FFFFFF">
                    <a:alpha val="6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AWS User Guide — Data protection in Amazon S3.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25401" y="5936790"/>
            <a:ext cx="1221660" cy="410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3"/>
              </a:lnSpc>
            </a:pPr>
            <a:r>
              <a:rPr lang="en-US" sz="2784" spc="-55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độ bền.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196155" y="7681167"/>
            <a:ext cx="507267" cy="437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9"/>
              </a:lnSpc>
            </a:pPr>
            <a:r>
              <a:rPr lang="en-US" b="true" sz="2990" spc="-59">
                <a:solidFill>
                  <a:srgbClr val="030C1B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v3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73166" y="1441510"/>
            <a:ext cx="14481881" cy="2041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49"/>
              </a:lnSpc>
            </a:pPr>
            <a:r>
              <a:rPr lang="en-US" sz="7083" spc="-141" b="true">
                <a:solidFill>
                  <a:srgbClr val="FFFF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Strong consistency:</a:t>
            </a:r>
          </a:p>
          <a:p>
            <a:pPr algn="l">
              <a:lnSpc>
                <a:spcPts val="8149"/>
              </a:lnSpc>
            </a:pPr>
            <a:r>
              <a:rPr lang="en-US" sz="7083" spc="-141" b="true">
                <a:solidFill>
                  <a:srgbClr val="FFFF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Ghi thành công, đọc được bản mới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61085" y="3946881"/>
            <a:ext cx="8368796" cy="687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26"/>
              </a:lnSpc>
            </a:pPr>
            <a:r>
              <a:rPr lang="en-US" sz="3955" spc="-38" b="true">
                <a:solidFill>
                  <a:srgbClr val="FFFFFF">
                    <a:alpha val="89804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Ghi mới thành công → đọc thấy object.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9785" y="4865593"/>
            <a:ext cx="8498837" cy="687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26"/>
              </a:lnSpc>
            </a:pPr>
            <a:r>
              <a:rPr lang="en-US" sz="3955" spc="-38" b="true">
                <a:solidFill>
                  <a:srgbClr val="FFFFFF">
                    <a:alpha val="89804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Ghi đè thành công → đọc thấy bản mới.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1660" y="5769243"/>
            <a:ext cx="8311357" cy="687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26"/>
              </a:lnSpc>
            </a:pPr>
            <a:r>
              <a:rPr lang="en-US" sz="3955" spc="-38" b="true">
                <a:solidFill>
                  <a:srgbClr val="FFFFFF">
                    <a:alpha val="89804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LIST phản ánh thay đổi đã thành công.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64086" y="6854356"/>
            <a:ext cx="14164450" cy="1727254"/>
          </a:xfrm>
          <a:custGeom>
            <a:avLst/>
            <a:gdLst/>
            <a:ahLst/>
            <a:cxnLst/>
            <a:rect r="r" b="b" t="t" l="l"/>
            <a:pathLst>
              <a:path h="1727254" w="14164450">
                <a:moveTo>
                  <a:pt x="0" y="0"/>
                </a:moveTo>
                <a:lnTo>
                  <a:pt x="14164450" y="0"/>
                </a:lnTo>
                <a:lnTo>
                  <a:pt x="14164450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70983" y="7275357"/>
            <a:ext cx="12204813" cy="718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26"/>
              </a:lnSpc>
            </a:pPr>
            <a:r>
              <a:rPr lang="en-US" sz="3955" spc="-38" b="true">
                <a:solidFill>
                  <a:srgbClr val="FF9035">
                    <a:alpha val="8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Không đông nghĩa mọi bản sao xuyên Region tức thời.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80757" y="9150199"/>
            <a:ext cx="5685980" cy="348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sz="2337" spc="-22" b="true">
                <a:solidFill>
                  <a:srgbClr val="FFFFFF">
                    <a:alpha val="60000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AWS — Amazon S3 Strong Consistency.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86160" y="808955"/>
            <a:ext cx="10503576" cy="2041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49"/>
              </a:lnSpc>
            </a:pPr>
            <a:r>
              <a:rPr lang="en-US" sz="7083" spc="-141" b="true">
                <a:solidFill>
                  <a:srgbClr val="F0F4F8"/>
                </a:solidFill>
                <a:latin typeface="Inter Bold"/>
                <a:ea typeface="Inter Bold"/>
                <a:cs typeface="Inter Bold"/>
                <a:sym typeface="Inter Bold"/>
              </a:rPr>
              <a:t>Trách nhiệm được chia</a:t>
            </a:r>
          </a:p>
          <a:p>
            <a:pPr algn="l">
              <a:lnSpc>
                <a:spcPts val="8149"/>
              </a:lnSpc>
            </a:pPr>
            <a:r>
              <a:rPr lang="en-US" sz="7083" spc="-141" b="true">
                <a:solidFill>
                  <a:srgbClr val="F0F4F8"/>
                </a:solidFill>
                <a:latin typeface="Inter Bold"/>
                <a:ea typeface="Inter Bold"/>
                <a:cs typeface="Inter Bold"/>
                <a:sym typeface="Inter Bold"/>
              </a:rPr>
              <a:t>giữa AWS và người dùng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64086" y="3214004"/>
            <a:ext cx="5239206" cy="3432644"/>
          </a:xfrm>
          <a:custGeom>
            <a:avLst/>
            <a:gdLst/>
            <a:ahLst/>
            <a:cxnLst/>
            <a:rect r="r" b="b" t="t" l="l"/>
            <a:pathLst>
              <a:path h="3432644" w="5239206">
                <a:moveTo>
                  <a:pt x="0" y="0"/>
                </a:moveTo>
                <a:lnTo>
                  <a:pt x="5239206" y="0"/>
                </a:lnTo>
                <a:lnTo>
                  <a:pt x="5239206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26221" y="3685757"/>
            <a:ext cx="1323202" cy="547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4"/>
              </a:lnSpc>
            </a:pPr>
            <a:r>
              <a:rPr lang="en-US" sz="3932" spc="-157" b="true">
                <a:solidFill>
                  <a:srgbClr val="00D0FF"/>
                </a:solidFill>
                <a:latin typeface="Inter Bold"/>
                <a:ea typeface="Inter Bold"/>
                <a:cs typeface="Inter Bold"/>
                <a:sym typeface="Inter Bold"/>
              </a:rPr>
              <a:t>AWS: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02054" y="4186460"/>
            <a:ext cx="3739887" cy="573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42"/>
              </a:lnSpc>
            </a:pPr>
            <a:r>
              <a:rPr lang="en-US" sz="3339" spc="-32" b="true">
                <a:solidFill>
                  <a:srgbClr val="F0F4F8"/>
                </a:solidFill>
                <a:latin typeface="Inter Medium"/>
                <a:ea typeface="Inter Medium"/>
                <a:cs typeface="Inter Medium"/>
                <a:sym typeface="Inter Medium"/>
              </a:rPr>
              <a:t>hạ tầng chạy dịch vụ.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311110" y="3214004"/>
            <a:ext cx="6978316" cy="3432644"/>
          </a:xfrm>
          <a:custGeom>
            <a:avLst/>
            <a:gdLst/>
            <a:ahLst/>
            <a:cxnLst/>
            <a:rect r="r" b="b" t="t" l="l"/>
            <a:pathLst>
              <a:path h="3432644" w="6978316">
                <a:moveTo>
                  <a:pt x="0" y="0"/>
                </a:moveTo>
                <a:lnTo>
                  <a:pt x="6978316" y="0"/>
                </a:lnTo>
                <a:lnTo>
                  <a:pt x="6978316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642294" y="3685757"/>
            <a:ext cx="2818228" cy="547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4"/>
              </a:lnSpc>
            </a:pPr>
            <a:r>
              <a:rPr lang="en-US" sz="3932" spc="-157" b="true">
                <a:solidFill>
                  <a:srgbClr val="00D0FF"/>
                </a:solidFill>
                <a:latin typeface="Inter Bold"/>
                <a:ea typeface="Inter Bold"/>
                <a:cs typeface="Inter Bold"/>
                <a:sym typeface="Inter Bold"/>
              </a:rPr>
              <a:t>Người dùng: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16339" y="4186460"/>
            <a:ext cx="5413728" cy="573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42"/>
              </a:lnSpc>
            </a:pPr>
            <a:r>
              <a:rPr lang="en-US" sz="3339" spc="-32" b="true">
                <a:solidFill>
                  <a:srgbClr val="F0F4F8"/>
                </a:solidFill>
                <a:latin typeface="Inter Medium"/>
                <a:ea typeface="Inter Medium"/>
                <a:cs typeface="Inter Medium"/>
                <a:sym typeface="Inter Medium"/>
              </a:rPr>
              <a:t>dữ liệu và người được truy cập.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42294" y="5191842"/>
            <a:ext cx="2818228" cy="547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4"/>
              </a:lnSpc>
            </a:pPr>
            <a:r>
              <a:rPr lang="en-US" sz="3932" spc="-157" b="true">
                <a:solidFill>
                  <a:srgbClr val="00D0FF"/>
                </a:solidFill>
                <a:latin typeface="Inter Bold"/>
                <a:ea typeface="Inter Bold"/>
                <a:cs typeface="Inter Bold"/>
                <a:sym typeface="Inter Bold"/>
              </a:rPr>
              <a:t>Người dùng: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07381" y="5707605"/>
            <a:ext cx="6309581" cy="573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42"/>
              </a:lnSpc>
            </a:pPr>
            <a:r>
              <a:rPr lang="en-US" sz="3339" spc="-32" b="true">
                <a:solidFill>
                  <a:srgbClr val="F0F4F8"/>
                </a:solidFill>
                <a:latin typeface="Inter Medium"/>
                <a:ea typeface="Inter Medium"/>
                <a:cs typeface="Inter Medium"/>
                <a:sym typeface="Inter Medium"/>
              </a:rPr>
              <a:t>cấu hình, vòng đời và cách sử dụng.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864086" y="6854356"/>
            <a:ext cx="12425340" cy="1727254"/>
          </a:xfrm>
          <a:custGeom>
            <a:avLst/>
            <a:gdLst/>
            <a:ahLst/>
            <a:cxnLst/>
            <a:rect r="r" b="b" t="t" l="l"/>
            <a:pathLst>
              <a:path h="1727254" w="12425340">
                <a:moveTo>
                  <a:pt x="0" y="0"/>
                </a:moveTo>
                <a:lnTo>
                  <a:pt x="12425340" y="0"/>
                </a:lnTo>
                <a:lnTo>
                  <a:pt x="12425340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313543" y="7379784"/>
            <a:ext cx="2590981" cy="761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89"/>
              </a:lnSpc>
            </a:pPr>
            <a:r>
              <a:rPr lang="en-US" sz="5446" spc="-218" b="true">
                <a:solidFill>
                  <a:srgbClr val="F47C10"/>
                </a:solidFill>
                <a:latin typeface="Inter Bold"/>
                <a:ea typeface="Inter Bold"/>
                <a:cs typeface="Inter Bold"/>
                <a:sym typeface="Inter Bold"/>
              </a:rPr>
              <a:t>Bảo mặt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040450" y="7481133"/>
            <a:ext cx="8506611" cy="625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9"/>
              </a:lnSpc>
            </a:pPr>
            <a:r>
              <a:rPr lang="en-US" sz="4437" spc="-177" b="true">
                <a:solidFill>
                  <a:srgbClr val="F0F4F8"/>
                </a:solidFill>
                <a:latin typeface="Inter Bold"/>
                <a:ea typeface="Inter Bold"/>
                <a:cs typeface="Inter Bold"/>
                <a:sym typeface="Inter Bold"/>
              </a:rPr>
              <a:t>cần cả dịch vụ lẫn lựa chọn đúng.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30963" y="9239043"/>
            <a:ext cx="6023249" cy="333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7"/>
              </a:lnSpc>
            </a:pPr>
            <a:r>
              <a:rPr lang="en-US" sz="2425" spc="-72" b="true">
                <a:solidFill>
                  <a:srgbClr val="F0F4F8">
                    <a:alpha val="60000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AWS User Guide — Security in Amazon S3.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" t="0" r="-26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184708" y="3421712"/>
            <a:ext cx="2406316" cy="4088563"/>
          </a:xfrm>
          <a:custGeom>
            <a:avLst/>
            <a:gdLst/>
            <a:ahLst/>
            <a:cxnLst/>
            <a:rect r="r" b="b" t="t" l="l"/>
            <a:pathLst>
              <a:path h="4088563" w="2406316">
                <a:moveTo>
                  <a:pt x="0" y="0"/>
                </a:moveTo>
                <a:lnTo>
                  <a:pt x="2406316" y="0"/>
                </a:lnTo>
                <a:lnTo>
                  <a:pt x="2406316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75860" y="1886742"/>
            <a:ext cx="10102317" cy="2089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09"/>
              </a:lnSpc>
            </a:pPr>
            <a:r>
              <a:rPr lang="en-US" sz="7465" spc="-72" b="true">
                <a:solidFill>
                  <a:srgbClr val="FFFF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Mã hóa: Bảo vệ dữ liệu khi lưu và khi truyền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3981" y="4501307"/>
            <a:ext cx="9858942" cy="3026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0741" indent="-360371" lvl="1">
              <a:lnSpc>
                <a:spcPts val="5342"/>
              </a:lnSpc>
              <a:buFont typeface="Arial"/>
              <a:buChar char="•"/>
            </a:pPr>
            <a:r>
              <a:rPr lang="en-US" sz="3339" spc="-32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Object mới có mã hóa phía máy chủ mặc định.</a:t>
            </a:r>
          </a:p>
          <a:p>
            <a:pPr algn="l" marL="720741" indent="-360371" lvl="1">
              <a:lnSpc>
                <a:spcPts val="5342"/>
              </a:lnSpc>
              <a:buFont typeface="Arial"/>
              <a:buChar char="•"/>
            </a:pPr>
            <a:r>
              <a:rPr lang="en-US" sz="3339" spc="-32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Demo dùng SSE-S3, khóa do S3 quản lý.</a:t>
            </a:r>
          </a:p>
          <a:p>
            <a:pPr algn="l" marL="720741" indent="-360371" lvl="1">
              <a:lnSpc>
                <a:spcPts val="5342"/>
              </a:lnSpc>
              <a:buFont typeface="Arial"/>
              <a:buChar char="•"/>
            </a:pPr>
            <a:r>
              <a:rPr lang="en-US" sz="3339" spc="-32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Truy cập bằng HTTPS để bảo vệ đường truyền.</a:t>
            </a:r>
          </a:p>
          <a:p>
            <a:pPr algn="l" marL="720741" indent="-360371" lvl="1">
              <a:lnSpc>
                <a:spcPts val="5342"/>
              </a:lnSpc>
              <a:buFont typeface="Arial"/>
              <a:buChar char="•"/>
            </a:pPr>
            <a:r>
              <a:rPr lang="en-US" sz="3339" spc="-32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Quyền truy cập vẫn phải cấu hình đúng.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03672" y="8894633"/>
            <a:ext cx="10715625" cy="503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5"/>
              </a:lnSpc>
            </a:pPr>
            <a:r>
              <a:rPr lang="en-US" sz="2250" spc="-21">
                <a:solidFill>
                  <a:srgbClr val="FFFFFF">
                    <a:alpha val="6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AWS — Default encryption FAQ; AWS — Security best practices for S3.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696976" y="0"/>
            <a:ext cx="4364182" cy="1716322"/>
          </a:xfrm>
          <a:custGeom>
            <a:avLst/>
            <a:gdLst/>
            <a:ahLst/>
            <a:cxnLst/>
            <a:rect r="r" b="b" t="t" l="l"/>
            <a:pathLst>
              <a:path h="1716322" w="4364182">
                <a:moveTo>
                  <a:pt x="0" y="0"/>
                </a:moveTo>
                <a:lnTo>
                  <a:pt x="4364182" y="0"/>
                </a:lnTo>
                <a:lnTo>
                  <a:pt x="4364182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7499343"/>
            <a:ext cx="3270402" cy="2787657"/>
          </a:xfrm>
          <a:custGeom>
            <a:avLst/>
            <a:gdLst/>
            <a:ahLst/>
            <a:cxnLst/>
            <a:rect r="r" b="b" t="t" l="l"/>
            <a:pathLst>
              <a:path h="2787657" w="3270402">
                <a:moveTo>
                  <a:pt x="0" y="0"/>
                </a:moveTo>
                <a:lnTo>
                  <a:pt x="3270402" y="0"/>
                </a:lnTo>
                <a:lnTo>
                  <a:pt x="3270402" y="2787657"/>
                </a:lnTo>
                <a:lnTo>
                  <a:pt x="0" y="27876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892622" y="9204733"/>
            <a:ext cx="2395378" cy="1082267"/>
          </a:xfrm>
          <a:custGeom>
            <a:avLst/>
            <a:gdLst/>
            <a:ahLst/>
            <a:cxnLst/>
            <a:rect r="r" b="b" t="t" l="l"/>
            <a:pathLst>
              <a:path h="1082267" w="2395378">
                <a:moveTo>
                  <a:pt x="0" y="0"/>
                </a:moveTo>
                <a:lnTo>
                  <a:pt x="2395378" y="0"/>
                </a:lnTo>
                <a:lnTo>
                  <a:pt x="239537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455110" y="0"/>
            <a:ext cx="2832890" cy="3224936"/>
          </a:xfrm>
          <a:custGeom>
            <a:avLst/>
            <a:gdLst/>
            <a:ahLst/>
            <a:cxnLst/>
            <a:rect r="r" b="b" t="t" l="l"/>
            <a:pathLst>
              <a:path h="3224936" w="2832890">
                <a:moveTo>
                  <a:pt x="0" y="0"/>
                </a:moveTo>
                <a:lnTo>
                  <a:pt x="2832890" y="0"/>
                </a:lnTo>
                <a:lnTo>
                  <a:pt x="2832890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68701" y="1424882"/>
            <a:ext cx="4744741" cy="966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19"/>
              </a:lnSpc>
            </a:pPr>
            <a:r>
              <a:rPr lang="en-US" sz="6837" spc="-66" b="true">
                <a:solidFill>
                  <a:srgbClr val="FAFAF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Versioning: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53269" y="2373721"/>
            <a:ext cx="6287991" cy="1801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19"/>
              </a:lnSpc>
            </a:pPr>
            <a:r>
              <a:rPr lang="en-US" sz="6837" spc="-66" b="true">
                <a:solidFill>
                  <a:srgbClr val="38E9F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Cùng key,</a:t>
            </a:r>
          </a:p>
          <a:p>
            <a:pPr algn="l">
              <a:lnSpc>
                <a:spcPts val="7519"/>
              </a:lnSpc>
            </a:pPr>
            <a:r>
              <a:rPr lang="en-US" sz="6837" spc="-66" b="true">
                <a:solidFill>
                  <a:srgbClr val="38E9F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nhiều </a:t>
            </a:r>
            <a:r>
              <a:rPr lang="en-US" sz="6837" spc="-66" b="true">
                <a:solidFill>
                  <a:srgbClr val="DAF4F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phiên bản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45330" y="4711687"/>
            <a:ext cx="229694" cy="437279"/>
          </a:xfrm>
          <a:custGeom>
            <a:avLst/>
            <a:gdLst/>
            <a:ahLst/>
            <a:cxnLst/>
            <a:rect r="r" b="b" t="t" l="l"/>
            <a:pathLst>
              <a:path h="437279" w="229694">
                <a:moveTo>
                  <a:pt x="0" y="0"/>
                </a:moveTo>
                <a:lnTo>
                  <a:pt x="229694" y="0"/>
                </a:lnTo>
                <a:lnTo>
                  <a:pt x="22969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19217" y="4804645"/>
            <a:ext cx="6298645" cy="442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4180" indent="-292090" lvl="1">
              <a:lnSpc>
                <a:spcPts val="3790"/>
              </a:lnSpc>
              <a:buFont typeface="Arial"/>
              <a:buChar char="•"/>
            </a:pPr>
            <a:r>
              <a:rPr lang="en-US" b="true" sz="2707" spc="-26">
                <a:solidFill>
                  <a:srgbClr val="FAFAF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Bật Versioning </a:t>
            </a:r>
            <a:r>
              <a:rPr lang="en-US" sz="2707" spc="-26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trước khi thử ghi đề.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45330" y="5564382"/>
            <a:ext cx="229694" cy="437279"/>
          </a:xfrm>
          <a:custGeom>
            <a:avLst/>
            <a:gdLst/>
            <a:ahLst/>
            <a:cxnLst/>
            <a:rect r="r" b="b" t="t" l="l"/>
            <a:pathLst>
              <a:path h="437279" w="229694">
                <a:moveTo>
                  <a:pt x="0" y="0"/>
                </a:moveTo>
                <a:lnTo>
                  <a:pt x="229694" y="0"/>
                </a:lnTo>
                <a:lnTo>
                  <a:pt x="22969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15259" y="5557750"/>
            <a:ext cx="6694440" cy="429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4180" indent="-292090" lvl="1">
              <a:lnSpc>
                <a:spcPts val="3790"/>
              </a:lnSpc>
              <a:buFont typeface="Arial"/>
              <a:buChar char="•"/>
            </a:pPr>
            <a:r>
              <a:rPr lang="en-US" sz="2707" spc="-26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Cùng key, nội dung mới → phiên bản mới.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45330" y="6428009"/>
            <a:ext cx="229694" cy="218640"/>
          </a:xfrm>
          <a:custGeom>
            <a:avLst/>
            <a:gdLst/>
            <a:ahLst/>
            <a:cxnLst/>
            <a:rect r="r" b="b" t="t" l="l"/>
            <a:pathLst>
              <a:path h="218640" w="229694">
                <a:moveTo>
                  <a:pt x="0" y="0"/>
                </a:moveTo>
                <a:lnTo>
                  <a:pt x="229694" y="0"/>
                </a:lnTo>
                <a:lnTo>
                  <a:pt x="229694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22647" y="6295668"/>
            <a:ext cx="5955650" cy="442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4180" indent="-292090" lvl="1">
              <a:lnSpc>
                <a:spcPts val="3790"/>
              </a:lnSpc>
              <a:buFont typeface="Arial"/>
              <a:buChar char="•"/>
            </a:pPr>
            <a:r>
              <a:rPr lang="en-US" sz="2707" spc="-26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Chọn version ID để đọc bản trước.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45330" y="7062064"/>
            <a:ext cx="229694" cy="448211"/>
          </a:xfrm>
          <a:custGeom>
            <a:avLst/>
            <a:gdLst/>
            <a:ahLst/>
            <a:cxnLst/>
            <a:rect r="r" b="b" t="t" l="l"/>
            <a:pathLst>
              <a:path h="448211" w="229694">
                <a:moveTo>
                  <a:pt x="0" y="0"/>
                </a:moveTo>
                <a:lnTo>
                  <a:pt x="229694" y="0"/>
                </a:lnTo>
                <a:lnTo>
                  <a:pt x="229694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23697" y="7033475"/>
            <a:ext cx="5850570" cy="87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4180" indent="-292090" lvl="1">
              <a:lnSpc>
                <a:spcPts val="3790"/>
              </a:lnSpc>
              <a:buFont typeface="Arial"/>
              <a:buChar char="•"/>
            </a:pPr>
            <a:r>
              <a:rPr lang="en-US" sz="2707" spc="-26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Khôi phục v1 bằng tài về rồi upload thành v3.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645330" y="8133399"/>
            <a:ext cx="229694" cy="448211"/>
          </a:xfrm>
          <a:custGeom>
            <a:avLst/>
            <a:gdLst/>
            <a:ahLst/>
            <a:cxnLst/>
            <a:rect r="r" b="b" t="t" l="l"/>
            <a:pathLst>
              <a:path h="448211" w="229694">
                <a:moveTo>
                  <a:pt x="0" y="0"/>
                </a:moveTo>
                <a:lnTo>
                  <a:pt x="229694" y="0"/>
                </a:lnTo>
                <a:lnTo>
                  <a:pt x="229694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415232" y="8223483"/>
            <a:ext cx="6697104" cy="428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4180" indent="-292090" lvl="1">
              <a:lnSpc>
                <a:spcPts val="3790"/>
              </a:lnSpc>
              <a:buFont typeface="Arial"/>
              <a:buChar char="•"/>
            </a:pPr>
            <a:r>
              <a:rPr lang="en-US" sz="2707" spc="-26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Mỗi phiên bản tiếp tục dùng dung lượng.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71691" y="9663724"/>
            <a:ext cx="5693364" cy="265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599" spc="-15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AWS — S3 Versioning: </a:t>
            </a:r>
            <a:r>
              <a:rPr lang="en-US" sz="1599" spc="-15">
                <a:solidFill>
                  <a:srgbClr val="A8A8A8"/>
                </a:solidFill>
                <a:latin typeface="Inter"/>
                <a:ea typeface="Inter"/>
                <a:cs typeface="Inter"/>
                <a:sym typeface="Inter"/>
              </a:rPr>
              <a:t>AWS — Restoring previous versions.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7612708" y="426348"/>
            <a:ext cx="10467474" cy="4941258"/>
          </a:xfrm>
          <a:custGeom>
            <a:avLst/>
            <a:gdLst/>
            <a:ahLst/>
            <a:cxnLst/>
            <a:rect r="r" b="b" t="t" l="l"/>
            <a:pathLst>
              <a:path h="4941258" w="10467474">
                <a:moveTo>
                  <a:pt x="0" y="0"/>
                </a:moveTo>
                <a:lnTo>
                  <a:pt x="10467474" y="0"/>
                </a:lnTo>
                <a:lnTo>
                  <a:pt x="10467474" y="4941258"/>
                </a:lnTo>
                <a:lnTo>
                  <a:pt x="0" y="494125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7612708" y="426348"/>
            <a:ext cx="229694" cy="437279"/>
          </a:xfrm>
          <a:custGeom>
            <a:avLst/>
            <a:gdLst/>
            <a:ahLst/>
            <a:cxnLst/>
            <a:rect r="r" b="b" t="t" l="l"/>
            <a:pathLst>
              <a:path h="437279" w="229694">
                <a:moveTo>
                  <a:pt x="0" y="0"/>
                </a:moveTo>
                <a:lnTo>
                  <a:pt x="229694" y="0"/>
                </a:lnTo>
                <a:lnTo>
                  <a:pt x="22969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7725675" y="832567"/>
            <a:ext cx="1636400" cy="209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sz="1300" spc="-12" b="true">
                <a:solidFill>
                  <a:srgbClr val="2C2C2E"/>
                </a:solidFill>
                <a:latin typeface="Inter Bold"/>
                <a:ea typeface="Inter Bold"/>
                <a:cs typeface="Inter Bold"/>
                <a:sym typeface="Inter Bold"/>
              </a:rPr>
              <a:t>cloudnotes-starlight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7612708" y="1279043"/>
            <a:ext cx="885962" cy="229572"/>
          </a:xfrm>
          <a:custGeom>
            <a:avLst/>
            <a:gdLst/>
            <a:ahLst/>
            <a:cxnLst/>
            <a:rect r="r" b="b" t="t" l="l"/>
            <a:pathLst>
              <a:path h="229572" w="885962">
                <a:moveTo>
                  <a:pt x="0" y="0"/>
                </a:moveTo>
                <a:lnTo>
                  <a:pt x="885962" y="0"/>
                </a:lnTo>
                <a:lnTo>
                  <a:pt x="885962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7612708" y="1497682"/>
            <a:ext cx="10467474" cy="218640"/>
          </a:xfrm>
          <a:custGeom>
            <a:avLst/>
            <a:gdLst/>
            <a:ahLst/>
            <a:cxnLst/>
            <a:rect r="r" b="b" t="t" l="l"/>
            <a:pathLst>
              <a:path h="218640" w="10467474">
                <a:moveTo>
                  <a:pt x="0" y="0"/>
                </a:moveTo>
                <a:lnTo>
                  <a:pt x="10467474" y="0"/>
                </a:lnTo>
                <a:lnTo>
                  <a:pt x="10467474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7612708" y="1497682"/>
            <a:ext cx="885962" cy="437279"/>
          </a:xfrm>
          <a:custGeom>
            <a:avLst/>
            <a:gdLst/>
            <a:ahLst/>
            <a:cxnLst/>
            <a:rect r="r" b="b" t="t" l="l"/>
            <a:pathLst>
              <a:path h="437279" w="885962">
                <a:moveTo>
                  <a:pt x="0" y="0"/>
                </a:moveTo>
                <a:lnTo>
                  <a:pt x="885962" y="0"/>
                </a:lnTo>
                <a:lnTo>
                  <a:pt x="885962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8487732" y="1705390"/>
            <a:ext cx="229694" cy="229572"/>
          </a:xfrm>
          <a:custGeom>
            <a:avLst/>
            <a:gdLst/>
            <a:ahLst/>
            <a:cxnLst/>
            <a:rect r="r" b="b" t="t" l="l"/>
            <a:pathLst>
              <a:path h="229572" w="229694">
                <a:moveTo>
                  <a:pt x="0" y="0"/>
                </a:moveTo>
                <a:lnTo>
                  <a:pt x="229694" y="0"/>
                </a:lnTo>
                <a:lnTo>
                  <a:pt x="22969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9205666" y="531373"/>
            <a:ext cx="977168" cy="133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1"/>
              </a:lnSpc>
            </a:pPr>
            <a:r>
              <a:rPr lang="en-US" sz="800" spc="-7">
                <a:solidFill>
                  <a:srgbClr val="2C2C2E"/>
                </a:solidFill>
                <a:latin typeface="Inter"/>
                <a:ea typeface="Inter"/>
                <a:cs typeface="Inter"/>
                <a:sym typeface="Inter"/>
              </a:rPr>
              <a:t>cloudnotes-starlight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628023" y="1248701"/>
            <a:ext cx="760998" cy="139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5"/>
              </a:lnSpc>
            </a:pPr>
            <a:r>
              <a:rPr lang="en-US" sz="896" spc="-8" b="true">
                <a:solidFill>
                  <a:srgbClr val="2C2C2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Access Points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779990" y="1248701"/>
            <a:ext cx="719736" cy="139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5"/>
              </a:lnSpc>
            </a:pPr>
            <a:r>
              <a:rPr lang="en-US" sz="896" spc="-8" b="true">
                <a:solidFill>
                  <a:srgbClr val="2C2C2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Management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744775" y="1248701"/>
            <a:ext cx="681881" cy="139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5"/>
              </a:lnSpc>
            </a:pPr>
            <a:r>
              <a:rPr lang="en-US" sz="896" spc="-8" b="true">
                <a:solidFill>
                  <a:srgbClr val="2C2C2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File systems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200944" y="1248701"/>
            <a:ext cx="568900" cy="139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5"/>
              </a:lnSpc>
            </a:pPr>
            <a:r>
              <a:rPr lang="en-US" sz="896" spc="-8" b="true">
                <a:solidFill>
                  <a:srgbClr val="2C2C2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Permsions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370499" y="1248701"/>
            <a:ext cx="567289" cy="139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5"/>
              </a:lnSpc>
            </a:pPr>
            <a:r>
              <a:rPr lang="en-US" sz="896" spc="-8" b="true">
                <a:solidFill>
                  <a:srgbClr val="2C2C2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Properties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567277" y="1248701"/>
            <a:ext cx="522251" cy="139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5"/>
              </a:lnSpc>
            </a:pPr>
            <a:r>
              <a:rPr lang="en-US" sz="896" spc="-8">
                <a:solidFill>
                  <a:srgbClr val="2C2C2E"/>
                </a:solidFill>
                <a:latin typeface="Inter"/>
                <a:ea typeface="Inter"/>
                <a:cs typeface="Inter"/>
                <a:sym typeface="Inter"/>
              </a:rPr>
              <a:t>Metadata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950999" y="540932"/>
            <a:ext cx="535242" cy="124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6"/>
              </a:lnSpc>
            </a:pPr>
            <a:r>
              <a:rPr lang="en-US" b="true" sz="783" spc="-7" u="sng">
                <a:solidFill>
                  <a:srgbClr val="3399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Amazon S3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898514" y="1248701"/>
            <a:ext cx="425936" cy="139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5"/>
              </a:lnSpc>
            </a:pPr>
            <a:r>
              <a:rPr lang="en-US" b="true" sz="896" spc="-8" u="sng">
                <a:solidFill>
                  <a:srgbClr val="3399F4"/>
                </a:solidFill>
                <a:latin typeface="Inter Bold"/>
                <a:ea typeface="Inter Bold"/>
                <a:cs typeface="Inter Bold"/>
                <a:sym typeface="Inter Bold"/>
              </a:rPr>
              <a:t>Objects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113326" y="1248701"/>
            <a:ext cx="413476" cy="139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5"/>
              </a:lnSpc>
            </a:pPr>
            <a:r>
              <a:rPr lang="en-US" sz="896" spc="-8" b="true">
                <a:solidFill>
                  <a:srgbClr val="2C2C2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Metrics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675908" y="540872"/>
            <a:ext cx="374791" cy="124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8"/>
              </a:lnSpc>
            </a:pPr>
            <a:r>
              <a:rPr lang="en-US" b="true" sz="755" spc="-7" u="sng">
                <a:solidFill>
                  <a:srgbClr val="3399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Buckets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2070" y="566471"/>
            <a:ext cx="14160197" cy="1726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81"/>
              </a:lnSpc>
            </a:pPr>
            <a:r>
              <a:rPr lang="en-US" sz="6257" spc="-61" b="true">
                <a:solidFill>
                  <a:srgbClr val="F4F4F4"/>
                </a:solidFill>
                <a:latin typeface="Inter Bold"/>
                <a:ea typeface="Inter Bold"/>
                <a:cs typeface="Inter Bold"/>
                <a:sym typeface="Inter Bold"/>
              </a:rPr>
              <a:t>Storage class:</a:t>
            </a:r>
          </a:p>
          <a:p>
            <a:pPr algn="l">
              <a:lnSpc>
                <a:spcPts val="6881"/>
              </a:lnSpc>
            </a:pPr>
            <a:r>
              <a:rPr lang="en-US" sz="6257" spc="-61" b="true">
                <a:solidFill>
                  <a:srgbClr val="F4F4F4"/>
                </a:solidFill>
                <a:latin typeface="Inter Bold"/>
                <a:ea typeface="Inter Bold"/>
                <a:cs typeface="Inter Bold"/>
                <a:sym typeface="Inter Bold"/>
              </a:rPr>
              <a:t>Chọn theo tần suất và tốc độ cần đọc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2776725"/>
            <a:ext cx="4145426" cy="2590881"/>
          </a:xfrm>
          <a:custGeom>
            <a:avLst/>
            <a:gdLst/>
            <a:ahLst/>
            <a:cxnLst/>
            <a:rect r="r" b="b" t="t" l="l"/>
            <a:pathLst>
              <a:path h="2590881" w="4145426">
                <a:moveTo>
                  <a:pt x="0" y="0"/>
                </a:moveTo>
                <a:lnTo>
                  <a:pt x="4145426" y="0"/>
                </a:lnTo>
                <a:lnTo>
                  <a:pt x="4145426" y="2590881"/>
                </a:lnTo>
                <a:lnTo>
                  <a:pt x="0" y="25908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11885" y="5361000"/>
            <a:ext cx="1857574" cy="583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42"/>
              </a:lnSpc>
            </a:pPr>
            <a:r>
              <a:rPr lang="en-US" sz="3339" spc="-32" b="true">
                <a:solidFill>
                  <a:srgbClr val="02CDE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Standard: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94927" y="6003998"/>
            <a:ext cx="3553354" cy="845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601" spc="-25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truy cập thường xuyên, phù hợp demo.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5217330" y="2776725"/>
            <a:ext cx="3926670" cy="2590881"/>
          </a:xfrm>
          <a:custGeom>
            <a:avLst/>
            <a:gdLst/>
            <a:ahLst/>
            <a:cxnLst/>
            <a:rect r="r" b="b" t="t" l="l"/>
            <a:pathLst>
              <a:path h="2590881" w="3926670">
                <a:moveTo>
                  <a:pt x="0" y="0"/>
                </a:moveTo>
                <a:lnTo>
                  <a:pt x="3926670" y="0"/>
                </a:lnTo>
                <a:lnTo>
                  <a:pt x="3926670" y="2590881"/>
                </a:lnTo>
                <a:lnTo>
                  <a:pt x="0" y="25908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242287" y="5361000"/>
            <a:ext cx="3515830" cy="583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42"/>
              </a:lnSpc>
            </a:pPr>
            <a:r>
              <a:rPr lang="en-US" sz="3339" spc="-32" b="true">
                <a:solidFill>
                  <a:srgbClr val="02CDE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Intelligent-Tiering: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216104" y="6004010"/>
            <a:ext cx="3455224" cy="43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3"/>
              </a:lnSpc>
            </a:pPr>
            <a:r>
              <a:rPr lang="en-US" sz="2707" spc="-26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tần suất khó dự đoán.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9351818" y="2776725"/>
            <a:ext cx="3937608" cy="2590881"/>
          </a:xfrm>
          <a:custGeom>
            <a:avLst/>
            <a:gdLst/>
            <a:ahLst/>
            <a:cxnLst/>
            <a:rect r="r" b="b" t="t" l="l"/>
            <a:pathLst>
              <a:path h="2590881" w="3937608">
                <a:moveTo>
                  <a:pt x="0" y="0"/>
                </a:moveTo>
                <a:lnTo>
                  <a:pt x="3937608" y="0"/>
                </a:lnTo>
                <a:lnTo>
                  <a:pt x="3937608" y="2590881"/>
                </a:lnTo>
                <a:lnTo>
                  <a:pt x="0" y="25908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538972" y="5361017"/>
            <a:ext cx="2472357" cy="1049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42"/>
              </a:lnSpc>
            </a:pPr>
            <a:r>
              <a:rPr lang="en-US" sz="3339" spc="-32" b="true">
                <a:solidFill>
                  <a:srgbClr val="02CDE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Standard-IA /</a:t>
            </a:r>
          </a:p>
          <a:p>
            <a:pPr algn="l">
              <a:lnSpc>
                <a:spcPts val="5342"/>
              </a:lnSpc>
            </a:pPr>
            <a:r>
              <a:rPr lang="en-US" sz="3339" spc="-32" b="true">
                <a:solidFill>
                  <a:srgbClr val="02CDE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One Zone-IA: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46857" y="6501018"/>
            <a:ext cx="1683823" cy="43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3"/>
              </a:lnSpc>
            </a:pPr>
            <a:r>
              <a:rPr lang="en-US" sz="2707" spc="-2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ít truy cập.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3716000" y="2776725"/>
            <a:ext cx="3926670" cy="2590881"/>
          </a:xfrm>
          <a:custGeom>
            <a:avLst/>
            <a:gdLst/>
            <a:ahLst/>
            <a:cxnLst/>
            <a:rect r="r" b="b" t="t" l="l"/>
            <a:pathLst>
              <a:path h="2590881" w="3926670">
                <a:moveTo>
                  <a:pt x="0" y="0"/>
                </a:moveTo>
                <a:lnTo>
                  <a:pt x="3926670" y="0"/>
                </a:lnTo>
                <a:lnTo>
                  <a:pt x="3926670" y="2590881"/>
                </a:lnTo>
                <a:lnTo>
                  <a:pt x="0" y="25908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701407" y="5361000"/>
            <a:ext cx="1459338" cy="583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42"/>
              </a:lnSpc>
            </a:pPr>
            <a:r>
              <a:rPr lang="en-US" sz="3339" spc="-32" b="true">
                <a:solidFill>
                  <a:srgbClr val="02CDE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Glacier: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685470" y="6003998"/>
            <a:ext cx="3053030" cy="845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601" spc="-25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nhiều mức truy xuất</a:t>
            </a:r>
          </a:p>
          <a:p>
            <a:pPr algn="l">
              <a:lnSpc>
                <a:spcPts val="3511"/>
              </a:lnSpc>
            </a:pPr>
            <a:r>
              <a:rPr lang="en-US" sz="2601" spc="-25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để lưu trữ dài hạn.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82969" y="7862700"/>
            <a:ext cx="12070302" cy="759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26"/>
              </a:lnSpc>
            </a:pPr>
            <a:r>
              <a:rPr lang="en-US" sz="3955" spc="-38" b="true">
                <a:solidFill>
                  <a:srgbClr val="F4F4F4"/>
                </a:solidFill>
                <a:latin typeface="Inter Bold"/>
                <a:ea typeface="Inter Bold"/>
                <a:cs typeface="Inter Bold"/>
                <a:sym typeface="Inter Bold"/>
              </a:rPr>
              <a:t>So cả </a:t>
            </a:r>
            <a:r>
              <a:rPr lang="en-US" sz="3955" spc="-38" b="true">
                <a:solidFill>
                  <a:srgbClr val="F16B28"/>
                </a:solidFill>
                <a:latin typeface="Inter Bold"/>
                <a:ea typeface="Inter Bold"/>
                <a:cs typeface="Inter Bold"/>
                <a:sym typeface="Inter Bold"/>
              </a:rPr>
              <a:t>phí đọc, thời gian chờ </a:t>
            </a:r>
            <a:r>
              <a:rPr lang="en-US" sz="3955" spc="-38" b="true">
                <a:solidFill>
                  <a:srgbClr val="F4F4F4"/>
                </a:solidFill>
                <a:latin typeface="Inter Bold"/>
                <a:ea typeface="Inter Bold"/>
                <a:cs typeface="Inter Bold"/>
                <a:sym typeface="Inter Bold"/>
              </a:rPr>
              <a:t>và </a:t>
            </a:r>
            <a:r>
              <a:rPr lang="en-US" sz="3955" spc="-38" b="true">
                <a:solidFill>
                  <a:srgbClr val="F16B28"/>
                </a:solidFill>
                <a:latin typeface="Inter Bold"/>
                <a:ea typeface="Inter Bold"/>
                <a:cs typeface="Inter Bold"/>
                <a:sym typeface="Inter Bold"/>
              </a:rPr>
              <a:t>khả năng chịu lỗi</a:t>
            </a:r>
            <a:r>
              <a:rPr lang="en-US" sz="3955" spc="-38" b="true">
                <a:solidFill>
                  <a:srgbClr val="F4F4F4"/>
                </a:solidFill>
                <a:latin typeface="Inter Bold"/>
                <a:ea typeface="Inter Bold"/>
                <a:cs typeface="Inter Bold"/>
                <a:sym typeface="Inter Bold"/>
              </a:rPr>
              <a:t>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49095" y="9340454"/>
            <a:ext cx="8136617" cy="2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spc="-16">
                <a:solidFill>
                  <a:srgbClr val="FFFFFF">
                    <a:alpha val="6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AWS User Guide — Understanding and managing Amazon S3 storage classes.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95986" y="1564448"/>
            <a:ext cx="11484245" cy="2080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92"/>
              </a:lnSpc>
            </a:pPr>
            <a:r>
              <a:rPr lang="en-US" sz="7541" spc="-73" b="true">
                <a:solidFill>
                  <a:srgbClr val="F4F8F8"/>
                </a:solidFill>
                <a:latin typeface="Inter Bold"/>
                <a:ea typeface="Inter Bold"/>
                <a:cs typeface="Inter Bold"/>
                <a:sym typeface="Inter Bold"/>
              </a:rPr>
              <a:t>Lifecycle: Đặt quy tắc</a:t>
            </a:r>
          </a:p>
          <a:p>
            <a:pPr algn="l">
              <a:lnSpc>
                <a:spcPts val="8292"/>
              </a:lnSpc>
            </a:pPr>
            <a:r>
              <a:rPr lang="en-US" sz="7541" spc="-73" b="true">
                <a:solidFill>
                  <a:srgbClr val="F4F8F8"/>
                </a:solidFill>
                <a:latin typeface="Inter Bold"/>
                <a:ea typeface="Inter Bold"/>
                <a:cs typeface="Inter Bold"/>
                <a:sym typeface="Inter Bold"/>
              </a:rPr>
              <a:t>cho dữ liệu theo thời gian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42550" y="4195815"/>
            <a:ext cx="7359888" cy="551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4874" indent="-322437" lvl="1">
              <a:lnSpc>
                <a:spcPts val="4780"/>
              </a:lnSpc>
              <a:buFont typeface="Arial"/>
              <a:buChar char="•"/>
            </a:pPr>
            <a:r>
              <a:rPr lang="en-US" sz="2988" spc="-29">
                <a:solidFill>
                  <a:srgbClr val="F4F8F8"/>
                </a:solidFill>
                <a:latin typeface="Inter"/>
                <a:ea typeface="Inter"/>
                <a:cs typeface="Inter"/>
                <a:sym typeface="Inter"/>
              </a:rPr>
              <a:t>Tự chuyển lớp khi dữ liệu đủ điều kiện.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54895" y="4963918"/>
            <a:ext cx="6125368" cy="551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4874" indent="-322437" lvl="1">
              <a:lnSpc>
                <a:spcPts val="4780"/>
              </a:lnSpc>
              <a:buFont typeface="Arial"/>
              <a:buChar char="•"/>
            </a:pPr>
            <a:r>
              <a:rPr lang="en-US" sz="2988" spc="-29">
                <a:solidFill>
                  <a:srgbClr val="F4F8F8"/>
                </a:solidFill>
                <a:latin typeface="Inter"/>
                <a:ea typeface="Inter"/>
                <a:cs typeface="Inter"/>
                <a:sym typeface="Inter"/>
              </a:rPr>
              <a:t>Tự hết hạn theo quy tắc đã đặt.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48271" y="5731263"/>
            <a:ext cx="6787743" cy="553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4874" indent="-322437" lvl="1">
              <a:lnSpc>
                <a:spcPts val="4780"/>
              </a:lnSpc>
              <a:buFont typeface="Arial"/>
              <a:buChar char="•"/>
            </a:pPr>
            <a:r>
              <a:rPr lang="en-US" sz="2988" spc="-29">
                <a:solidFill>
                  <a:srgbClr val="F4F8F8"/>
                </a:solidFill>
                <a:latin typeface="Inter"/>
                <a:ea typeface="Inter"/>
                <a:cs typeface="Inter"/>
                <a:sym typeface="Inter"/>
              </a:rPr>
              <a:t>Có thể quản lý cả các phiên bản cũ.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5260" y="6515114"/>
            <a:ext cx="8088795" cy="554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4874" indent="-322437" lvl="1">
              <a:lnSpc>
                <a:spcPts val="4780"/>
              </a:lnSpc>
              <a:buFont typeface="Arial"/>
              <a:buChar char="•"/>
            </a:pPr>
            <a:r>
              <a:rPr lang="en-US" sz="2988" spc="-29">
                <a:solidFill>
                  <a:srgbClr val="F4F8F8"/>
                </a:solidFill>
                <a:latin typeface="Inter"/>
                <a:ea typeface="Inter"/>
                <a:cs typeface="Inter"/>
                <a:sym typeface="Inter"/>
              </a:rPr>
              <a:t>Phải xét thời gian lưu và chi phí chuyển lớp.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226842" y="6854356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432215" y="7394607"/>
            <a:ext cx="423839" cy="539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80"/>
              </a:lnSpc>
            </a:pPr>
            <a:r>
              <a:rPr lang="en-US" b="true" sz="2988" spc="-29">
                <a:solidFill>
                  <a:srgbClr val="F4F8F8"/>
                </a:solidFill>
                <a:latin typeface="Inter Medium"/>
                <a:ea typeface="Inter Medium"/>
                <a:cs typeface="Inter Medium"/>
                <a:sym typeface="Inter Medium"/>
              </a:rPr>
              <a:t>v2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2403464" y="7062064"/>
            <a:ext cx="667206" cy="448211"/>
          </a:xfrm>
          <a:custGeom>
            <a:avLst/>
            <a:gdLst/>
            <a:ahLst/>
            <a:cxnLst/>
            <a:rect r="r" b="b" t="t" l="l"/>
            <a:pathLst>
              <a:path h="448211" w="667206">
                <a:moveTo>
                  <a:pt x="0" y="0"/>
                </a:moveTo>
                <a:lnTo>
                  <a:pt x="667206" y="0"/>
                </a:lnTo>
                <a:lnTo>
                  <a:pt x="667206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756473" y="7613110"/>
            <a:ext cx="436618" cy="554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80"/>
              </a:lnSpc>
            </a:pPr>
            <a:r>
              <a:rPr lang="en-US" b="true" sz="2988" spc="-29">
                <a:solidFill>
                  <a:srgbClr val="F4F8F8"/>
                </a:solidFill>
                <a:latin typeface="Inter Medium"/>
                <a:ea typeface="Inter Medium"/>
                <a:cs typeface="Inter Medium"/>
                <a:sym typeface="Inter Medium"/>
              </a:rPr>
              <a:t>v3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4798842" y="7280704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10828" y="8976812"/>
            <a:ext cx="8090297" cy="484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26"/>
              </a:lnSpc>
            </a:pPr>
            <a:r>
              <a:rPr lang="en-US" sz="3955" spc="-38">
                <a:solidFill>
                  <a:srgbClr val="F4F8F8">
                    <a:alpha val="6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AWS User Guide — Managing the lifecycle of objects.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837358" y="7955493"/>
            <a:ext cx="1400406" cy="461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36"/>
              </a:lnSpc>
            </a:pPr>
            <a:r>
              <a:rPr lang="en-US" b="true" sz="2460" spc="-24">
                <a:solidFill>
                  <a:srgbClr val="F4F8F8"/>
                </a:solidFill>
                <a:latin typeface="Inter Medium"/>
                <a:ea typeface="Inter Medium"/>
                <a:cs typeface="Inter Medium"/>
                <a:sym typeface="Inter Medium"/>
              </a:rPr>
              <a:t>HẾT HẠN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328590" y="7198816"/>
            <a:ext cx="344838" cy="539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80"/>
              </a:lnSpc>
            </a:pPr>
            <a:r>
              <a:rPr lang="en-US" sz="2988" spc="-29">
                <a:solidFill>
                  <a:srgbClr val="F4F8F8"/>
                </a:solidFill>
                <a:latin typeface="Inter"/>
                <a:ea typeface="Inter"/>
                <a:cs typeface="Inter"/>
                <a:sym typeface="Inter"/>
              </a:rPr>
              <a:t>v1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664354" y="1705390"/>
            <a:ext cx="7623646" cy="6231233"/>
          </a:xfrm>
          <a:custGeom>
            <a:avLst/>
            <a:gdLst/>
            <a:ahLst/>
            <a:cxnLst/>
            <a:rect r="r" b="b" t="t" l="l"/>
            <a:pathLst>
              <a:path h="6231233" w="7623646">
                <a:moveTo>
                  <a:pt x="0" y="0"/>
                </a:moveTo>
                <a:lnTo>
                  <a:pt x="7623646" y="0"/>
                </a:lnTo>
                <a:lnTo>
                  <a:pt x="7623646" y="6231233"/>
                </a:lnTo>
                <a:lnTo>
                  <a:pt x="0" y="62312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664354" y="7925691"/>
            <a:ext cx="7623646" cy="2361309"/>
          </a:xfrm>
          <a:custGeom>
            <a:avLst/>
            <a:gdLst/>
            <a:ahLst/>
            <a:cxnLst/>
            <a:rect r="r" b="b" t="t" l="l"/>
            <a:pathLst>
              <a:path h="2361309" w="7623646">
                <a:moveTo>
                  <a:pt x="0" y="0"/>
                </a:moveTo>
                <a:lnTo>
                  <a:pt x="7623646" y="0"/>
                </a:lnTo>
                <a:lnTo>
                  <a:pt x="7623646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622220" y="7925691"/>
            <a:ext cx="4364182" cy="1082267"/>
          </a:xfrm>
          <a:custGeom>
            <a:avLst/>
            <a:gdLst/>
            <a:ahLst/>
            <a:cxnLst/>
            <a:rect r="r" b="b" t="t" l="l"/>
            <a:pathLst>
              <a:path h="1082267" w="4364182">
                <a:moveTo>
                  <a:pt x="0" y="0"/>
                </a:moveTo>
                <a:lnTo>
                  <a:pt x="4364182" y="0"/>
                </a:lnTo>
                <a:lnTo>
                  <a:pt x="436418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44873" y="1200531"/>
            <a:ext cx="9274454" cy="211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32"/>
              </a:lnSpc>
            </a:pPr>
            <a:r>
              <a:rPr lang="en-US" sz="7330" spc="-146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Chi phí: Không chỉ có dung lượng lưu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24283" y="3669567"/>
            <a:ext cx="9902185" cy="3751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0914" indent="-315457" lvl="1">
              <a:lnSpc>
                <a:spcPts val="6138"/>
              </a:lnSpc>
              <a:buFont typeface="Arial"/>
              <a:buChar char="•"/>
            </a:pPr>
            <a:r>
              <a:rPr lang="en-US" sz="292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Dung lượng và thời gian lưu, kể cả phiên bản cũ.</a:t>
            </a:r>
          </a:p>
          <a:p>
            <a:pPr algn="l" marL="630914" indent="-315457" lvl="1">
              <a:lnSpc>
                <a:spcPts val="6138"/>
              </a:lnSpc>
              <a:buFont typeface="Arial"/>
              <a:buChar char="•"/>
            </a:pPr>
            <a:r>
              <a:rPr lang="en-US" sz="292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Requests: ghi, đọc, liệt kê và thao tác liên quan.</a:t>
            </a:r>
          </a:p>
          <a:p>
            <a:pPr algn="l" marL="630914" indent="-315457" lvl="1">
              <a:lnSpc>
                <a:spcPts val="6138"/>
              </a:lnSpc>
              <a:buFont typeface="Arial"/>
              <a:buChar char="•"/>
            </a:pPr>
            <a:r>
              <a:rPr lang="en-US" sz="292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Retrieval, truyền dữ liệu và tính năng bổ sung.</a:t>
            </a:r>
          </a:p>
          <a:p>
            <a:pPr algn="l" marL="630914" indent="-315457" lvl="1">
              <a:lnSpc>
                <a:spcPts val="6138"/>
              </a:lnSpc>
              <a:buFont typeface="Arial"/>
              <a:buChar char="•"/>
            </a:pPr>
            <a:r>
              <a:rPr lang="en-US" sz="292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Free Tier phụ thuộc tài khoản và điều kiện hiện hành.</a:t>
            </a:r>
          </a:p>
          <a:p>
            <a:pPr algn="l" marL="630914" indent="-315457" lvl="1">
              <a:lnSpc>
                <a:spcPts val="6138"/>
              </a:lnSpc>
              <a:buFont typeface="Arial"/>
              <a:buChar char="•"/>
            </a:pPr>
            <a:r>
              <a:rPr lang="en-US" sz="292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Demo nhỏ, Standard; theo dõi Billing và dọn sau học.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38536" y="8813325"/>
            <a:ext cx="9908073" cy="285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spc="-39">
                <a:solidFill>
                  <a:srgbClr val="FFFFFF">
                    <a:alpha val="6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AWS — Amazon S3 Pricing; AWS Billing — Explore AWS services with AWS Free Tier.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10985" y="1690912"/>
            <a:ext cx="9984331" cy="2052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75"/>
              </a:lnSpc>
            </a:pPr>
            <a:r>
              <a:rPr lang="en-US" sz="7343" spc="-71" b="true">
                <a:solidFill>
                  <a:srgbClr val="FFFF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Ưu điểm:</a:t>
            </a:r>
          </a:p>
          <a:p>
            <a:pPr algn="l">
              <a:lnSpc>
                <a:spcPts val="8075"/>
              </a:lnSpc>
            </a:pPr>
            <a:r>
              <a:rPr lang="en-US" sz="7343" spc="-71" b="true">
                <a:solidFill>
                  <a:srgbClr val="FFFF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Những việc S3 làm tốt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71579" y="4399143"/>
            <a:ext cx="7851462" cy="44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3490" indent="-341745" lvl="1">
              <a:lnSpc>
                <a:spcPts val="3482"/>
              </a:lnSpc>
              <a:buFont typeface="Arial"/>
              <a:buChar char="•"/>
            </a:pPr>
            <a:r>
              <a:rPr lang="en-US" sz="3167" spc="-3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Giảm việc tự vận hành hạ tầng lưu trữ.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7511" y="5242550"/>
            <a:ext cx="6258304" cy="44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3490" indent="-341745" lvl="1">
              <a:lnSpc>
                <a:spcPts val="3482"/>
              </a:lnSpc>
              <a:buFont typeface="Arial"/>
              <a:buChar char="•"/>
            </a:pPr>
            <a:r>
              <a:rPr lang="en-US" sz="3167" spc="-3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Mở rộng theo nhu cầu dữ liệu.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8100" y="6116078"/>
            <a:ext cx="8199399" cy="44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3490" indent="-341745" lvl="1">
              <a:lnSpc>
                <a:spcPts val="3482"/>
              </a:lnSpc>
              <a:buFont typeface="Arial"/>
              <a:buChar char="•"/>
            </a:pPr>
            <a:r>
              <a:rPr lang="en-US" sz="3167" spc="-3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Nhiều lựa chọn bảo vệ và quản lý object.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9338" y="6974546"/>
            <a:ext cx="10075587" cy="44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3490" indent="-341745" lvl="1">
              <a:lnSpc>
                <a:spcPts val="3482"/>
              </a:lnSpc>
              <a:buFont typeface="Arial"/>
              <a:buChar char="•"/>
            </a:pPr>
            <a:r>
              <a:rPr lang="en-US" sz="3167" spc="-3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Truy cập qua công cụ hoặc tích hợp vào ứng dụng.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8764" y="9124112"/>
            <a:ext cx="7885304" cy="284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2"/>
              </a:lnSpc>
            </a:pPr>
            <a:r>
              <a:rPr lang="en-US" sz="2039" spc="-19">
                <a:solidFill>
                  <a:srgbClr val="FFFFFF">
                    <a:alpha val="6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Tống hợp từ các slide 06, 13, 16–19; đối chiếu AWS — Amazon S3.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71486" y="1418452"/>
            <a:ext cx="3934169" cy="1088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13"/>
              </a:lnSpc>
            </a:pPr>
            <a:r>
              <a:rPr lang="en-US" sz="7259" spc="-70" b="true">
                <a:solidFill>
                  <a:srgbClr val="F4F4F4"/>
                </a:solidFill>
                <a:latin typeface="Inter Bold"/>
                <a:ea typeface="Inter Bold"/>
                <a:cs typeface="Inter Bold"/>
                <a:sym typeface="Inter Bold"/>
              </a:rPr>
              <a:t>Hạn chế: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93578" y="2517893"/>
            <a:ext cx="11724988" cy="999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13"/>
              </a:lnSpc>
            </a:pPr>
            <a:r>
              <a:rPr lang="en-US" sz="7259" spc="-70" b="true">
                <a:solidFill>
                  <a:srgbClr val="F4F4F4"/>
                </a:solidFill>
                <a:latin typeface="Inter Bold"/>
                <a:ea typeface="Inter Bold"/>
                <a:cs typeface="Inter Bold"/>
                <a:sym typeface="Inter Bold"/>
              </a:rPr>
              <a:t>Khi nào phải cân nhắc thêm?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46843" y="3943274"/>
            <a:ext cx="9609415" cy="578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2266" indent="-351133" lvl="1">
              <a:lnSpc>
                <a:spcPts val="4881"/>
              </a:lnSpc>
              <a:buFont typeface="Arial"/>
              <a:buChar char="•"/>
            </a:pPr>
            <a:r>
              <a:rPr lang="en-US" sz="3254" spc="-31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Truy cập object khác cách làm việc trên ổ đĩa.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84738" y="4726438"/>
            <a:ext cx="5819916" cy="578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2266" indent="-351133" lvl="1">
              <a:lnSpc>
                <a:spcPts val="4881"/>
              </a:lnSpc>
              <a:buFont typeface="Arial"/>
              <a:buChar char="•"/>
            </a:pPr>
            <a:r>
              <a:rPr lang="en-US" sz="3254" spc="-31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Phụ thuộc mạng và độ trễ.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63115" y="5509601"/>
            <a:ext cx="7982260" cy="578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2266" indent="-351133" lvl="1">
              <a:lnSpc>
                <a:spcPts val="4881"/>
              </a:lnSpc>
              <a:buFont typeface="Arial"/>
              <a:buChar char="•"/>
            </a:pPr>
            <a:r>
              <a:rPr lang="en-US" sz="3254" spc="-31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Nhiều lớp phí, cần hiểu cách sử dụng.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51201" y="6292765"/>
            <a:ext cx="9173667" cy="578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2266" indent="-351133" lvl="1">
              <a:lnSpc>
                <a:spcPts val="4881"/>
              </a:lnSpc>
              <a:buFont typeface="Arial"/>
              <a:buChar char="•"/>
            </a:pPr>
            <a:r>
              <a:rPr lang="en-US" sz="3254" spc="-31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Sai quyền hoặc quy tắc có thể gây hậu quả.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63254" y="7060868"/>
            <a:ext cx="7968351" cy="578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2266" indent="-351133" lvl="1">
              <a:lnSpc>
                <a:spcPts val="4881"/>
              </a:lnSpc>
              <a:buFont typeface="Arial"/>
              <a:buChar char="•"/>
            </a:pPr>
            <a:r>
              <a:rPr lang="en-US" sz="3254" spc="-31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Archive có thể cần chờ để lấy dữ liệu.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28845" y="8430072"/>
            <a:ext cx="8198322" cy="770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0"/>
              </a:lnSpc>
            </a:pPr>
            <a:r>
              <a:rPr lang="en-US" sz="2140" spc="-20" b="true">
                <a:solidFill>
                  <a:srgbClr val="94A1B6"/>
                </a:solidFill>
                <a:latin typeface="Inter Medium"/>
                <a:ea typeface="Inter Medium"/>
                <a:cs typeface="Inter Medium"/>
                <a:sym typeface="Inter Medium"/>
              </a:rPr>
              <a:t>AWS — Block, file, object comparison; AWS — Storage classes; AWS — S3 Pricing.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6574" y="2569017"/>
            <a:ext cx="4145426" cy="4077631"/>
          </a:xfrm>
          <a:custGeom>
            <a:avLst/>
            <a:gdLst/>
            <a:ahLst/>
            <a:cxnLst/>
            <a:rect r="r" b="b" t="t" l="l"/>
            <a:pathLst>
              <a:path h="4077631" w="4145426">
                <a:moveTo>
                  <a:pt x="0" y="0"/>
                </a:moveTo>
                <a:lnTo>
                  <a:pt x="4145426" y="0"/>
                </a:lnTo>
                <a:lnTo>
                  <a:pt x="4145426" y="4077631"/>
                </a:lnTo>
                <a:lnTo>
                  <a:pt x="0" y="40776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779818" y="2569017"/>
            <a:ext cx="4364182" cy="4077631"/>
          </a:xfrm>
          <a:custGeom>
            <a:avLst/>
            <a:gdLst/>
            <a:ahLst/>
            <a:cxnLst/>
            <a:rect r="r" b="b" t="t" l="l"/>
            <a:pathLst>
              <a:path h="4077631" w="4364182">
                <a:moveTo>
                  <a:pt x="0" y="0"/>
                </a:moveTo>
                <a:lnTo>
                  <a:pt x="4364182" y="0"/>
                </a:lnTo>
                <a:lnTo>
                  <a:pt x="4364182" y="4077631"/>
                </a:lnTo>
                <a:lnTo>
                  <a:pt x="0" y="40776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351818" y="2569017"/>
            <a:ext cx="4156364" cy="4077631"/>
          </a:xfrm>
          <a:custGeom>
            <a:avLst/>
            <a:gdLst/>
            <a:ahLst/>
            <a:cxnLst/>
            <a:rect r="r" b="b" t="t" l="l"/>
            <a:pathLst>
              <a:path h="4077631" w="4156364">
                <a:moveTo>
                  <a:pt x="0" y="0"/>
                </a:moveTo>
                <a:lnTo>
                  <a:pt x="4156364" y="0"/>
                </a:lnTo>
                <a:lnTo>
                  <a:pt x="4156364" y="4077631"/>
                </a:lnTo>
                <a:lnTo>
                  <a:pt x="0" y="40776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716000" y="2569017"/>
            <a:ext cx="4364182" cy="4077631"/>
          </a:xfrm>
          <a:custGeom>
            <a:avLst/>
            <a:gdLst/>
            <a:ahLst/>
            <a:cxnLst/>
            <a:rect r="r" b="b" t="t" l="l"/>
            <a:pathLst>
              <a:path h="4077631" w="4364182">
                <a:moveTo>
                  <a:pt x="0" y="0"/>
                </a:moveTo>
                <a:lnTo>
                  <a:pt x="4364182" y="0"/>
                </a:lnTo>
                <a:lnTo>
                  <a:pt x="4364182" y="4077631"/>
                </a:lnTo>
                <a:lnTo>
                  <a:pt x="0" y="40776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74091" y="1267907"/>
            <a:ext cx="15859960" cy="73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8"/>
              </a:lnSpc>
            </a:pPr>
            <a:r>
              <a:rPr lang="en-US" b="true" sz="5568" spc="-54">
                <a:solidFill>
                  <a:srgbClr val="F4F4F4"/>
                </a:solidFill>
                <a:latin typeface="Inter Bold"/>
                <a:ea typeface="Inter Bold"/>
                <a:cs typeface="Inter Bold"/>
                <a:sym typeface="Inter Bold"/>
              </a:rPr>
              <a:t>Ứng dụng thực tế: Từ tệp nhóm đến dữ liệu lớn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07000" y="6803505"/>
            <a:ext cx="3593727" cy="992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5"/>
              </a:lnSpc>
            </a:pPr>
            <a:r>
              <a:rPr lang="en-US" sz="2888" spc="-115" b="true">
                <a:solidFill>
                  <a:srgbClr val="F4F4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Lưu ảnh, tài liệu</a:t>
            </a:r>
          </a:p>
          <a:p>
            <a:pPr algn="l">
              <a:lnSpc>
                <a:spcPts val="4045"/>
              </a:lnSpc>
            </a:pPr>
            <a:r>
              <a:rPr lang="en-US" sz="2888" spc="-115" b="true">
                <a:solidFill>
                  <a:srgbClr val="F4F4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và nội dung ứng dụng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035107" y="6803505"/>
            <a:ext cx="2802623" cy="992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5"/>
              </a:lnSpc>
            </a:pPr>
            <a:r>
              <a:rPr lang="en-US" sz="2888" spc="-115" b="true">
                <a:solidFill>
                  <a:srgbClr val="F4F4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Backup và</a:t>
            </a:r>
          </a:p>
          <a:p>
            <a:pPr algn="l">
              <a:lnSpc>
                <a:spcPts val="4045"/>
              </a:lnSpc>
            </a:pPr>
            <a:r>
              <a:rPr lang="en-US" sz="2888" spc="-115" b="true">
                <a:solidFill>
                  <a:srgbClr val="F4F4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khôi phục dữ liệu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40340" y="6803505"/>
            <a:ext cx="2335514" cy="992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5"/>
              </a:lnSpc>
            </a:pPr>
            <a:r>
              <a:rPr lang="en-US" sz="2888" spc="-115" b="true">
                <a:solidFill>
                  <a:srgbClr val="F4F4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Lưu trữ lâu dài</a:t>
            </a:r>
          </a:p>
          <a:p>
            <a:pPr algn="l">
              <a:lnSpc>
                <a:spcPts val="4045"/>
              </a:lnSpc>
            </a:pPr>
            <a:r>
              <a:rPr lang="en-US" sz="2888" spc="-115" b="true">
                <a:solidFill>
                  <a:srgbClr val="F4F4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ít truy cập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978800" y="6803505"/>
            <a:ext cx="3187943" cy="992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5"/>
              </a:lnSpc>
            </a:pPr>
            <a:r>
              <a:rPr lang="en-US" sz="2888" spc="-115" b="true">
                <a:solidFill>
                  <a:srgbClr val="F4F4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Data lake và dữ liệu</a:t>
            </a:r>
          </a:p>
          <a:p>
            <a:pPr algn="l">
              <a:lnSpc>
                <a:spcPts val="4045"/>
              </a:lnSpc>
            </a:pPr>
            <a:r>
              <a:rPr lang="en-US" sz="2888" spc="-115" b="true">
                <a:solidFill>
                  <a:srgbClr val="F4F4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đầu vào phân tích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88592" y="9377623"/>
            <a:ext cx="8113450" cy="311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8"/>
              </a:lnSpc>
            </a:pPr>
            <a:r>
              <a:rPr lang="en-US" sz="1898" spc="-18">
                <a:solidFill>
                  <a:srgbClr val="F4F4F4">
                    <a:alpha val="6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AWS — Amazon S3 use cases; AWS User Guide — What is Amazon S3?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5873598" y="7707051"/>
            <a:ext cx="12414402" cy="2579949"/>
          </a:xfrm>
          <a:custGeom>
            <a:avLst/>
            <a:gdLst/>
            <a:ahLst/>
            <a:cxnLst/>
            <a:rect r="r" b="b" t="t" l="l"/>
            <a:pathLst>
              <a:path h="2579949" w="12414402">
                <a:moveTo>
                  <a:pt x="0" y="0"/>
                </a:moveTo>
                <a:lnTo>
                  <a:pt x="12414402" y="0"/>
                </a:lnTo>
                <a:lnTo>
                  <a:pt x="12414402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8448" y="916604"/>
            <a:ext cx="8164590" cy="2740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5"/>
              </a:lnSpc>
            </a:pPr>
            <a:r>
              <a:rPr lang="en-US" sz="7134" spc="-212" b="true">
                <a:solidFill>
                  <a:srgbClr val="F4F4F4"/>
                </a:solidFill>
                <a:latin typeface="Inter Bold"/>
                <a:ea typeface="Inter Bold"/>
                <a:cs typeface="Inter Bold"/>
                <a:sym typeface="Inter Bold"/>
              </a:rPr>
              <a:t>Sản phẩm demo:</a:t>
            </a:r>
          </a:p>
          <a:p>
            <a:pPr algn="l">
              <a:lnSpc>
                <a:spcPts val="7845"/>
              </a:lnSpc>
            </a:pPr>
            <a:r>
              <a:rPr lang="en-US" sz="7134" spc="-212" b="true">
                <a:solidFill>
                  <a:srgbClr val="F4F4F4"/>
                </a:solidFill>
                <a:latin typeface="Inter Bold"/>
                <a:ea typeface="Inter Bold"/>
                <a:cs typeface="Inter Bold"/>
                <a:sym typeface="Inter Bold"/>
              </a:rPr>
              <a:t>Kho tài liệu nhóm trên AWS Console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04344" y="4130930"/>
            <a:ext cx="7785912" cy="455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2461" indent="-326230" lvl="1">
              <a:lnSpc>
                <a:spcPts val="3929"/>
              </a:lnSpc>
              <a:buFont typeface="Arial"/>
              <a:buChar char="•"/>
            </a:pPr>
            <a:r>
              <a:rPr lang="en-US" sz="3023" spc="-6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Một general purpose bucket, S3 Standard.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17714" y="4883972"/>
            <a:ext cx="6448935" cy="455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2461" indent="-326230" lvl="1">
              <a:lnSpc>
                <a:spcPts val="3929"/>
              </a:lnSpc>
              <a:buFont typeface="Arial"/>
              <a:buChar char="•"/>
            </a:pPr>
            <a:r>
              <a:rPr lang="en-US" sz="3023" spc="-6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Riêng tư · Versioning bật · SSE-S3.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24216" y="5606893"/>
            <a:ext cx="5798747" cy="455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2461" indent="-326230" lvl="1">
              <a:lnSpc>
                <a:spcPts val="3929"/>
              </a:lnSpc>
              <a:buFont typeface="Arial"/>
              <a:buChar char="•"/>
            </a:pPr>
            <a:r>
              <a:rPr lang="en-US" sz="3023" spc="-6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Key gốc: `ke-hoach-nhom.txt`.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99605" y="6329813"/>
            <a:ext cx="8259783" cy="455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2461" indent="-326230" lvl="1">
              <a:lnSpc>
                <a:spcPts val="3929"/>
              </a:lnSpc>
              <a:buFont typeface="Arial"/>
              <a:buChar char="•"/>
            </a:pPr>
            <a:r>
              <a:rPr lang="en-US" sz="3023" spc="-6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Ba chức năng: lưu, phục hồi, chia sẻ tạm thời.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99290" y="7052716"/>
            <a:ext cx="8291319" cy="954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2461" indent="-326230" lvl="1">
              <a:lnSpc>
                <a:spcPts val="3929"/>
              </a:lnSpc>
              <a:buFont typeface="Arial"/>
              <a:buChar char="•"/>
            </a:pPr>
            <a:r>
              <a:rPr lang="en-US" sz="3023" spc="-6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GitHub chứa tài liệu, mẫu và bằng chứng đã che thông tin.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0842" y="9447401"/>
            <a:ext cx="9925140" cy="270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7"/>
              </a:lnSpc>
            </a:pPr>
            <a:r>
              <a:rPr lang="en-US" sz="1705" spc="-34">
                <a:solidFill>
                  <a:srgbClr val="F4F4F4">
                    <a:alpha val="7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Kiến trúc demo do nhóm thiết kế; cơ chế Console/API tại AWS — General purpose buckets overview.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9351818" y="1279043"/>
            <a:ext cx="8728364" cy="8155262"/>
          </a:xfrm>
          <a:custGeom>
            <a:avLst/>
            <a:gdLst/>
            <a:ahLst/>
            <a:cxnLst/>
            <a:rect r="r" b="b" t="t" l="l"/>
            <a:pathLst>
              <a:path h="8155262" w="8728364">
                <a:moveTo>
                  <a:pt x="0" y="0"/>
                </a:moveTo>
                <a:lnTo>
                  <a:pt x="8728364" y="0"/>
                </a:lnTo>
                <a:lnTo>
                  <a:pt x="8728364" y="8155262"/>
                </a:lnTo>
                <a:lnTo>
                  <a:pt x="0" y="81552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570574" y="1497682"/>
            <a:ext cx="448450" cy="218640"/>
          </a:xfrm>
          <a:custGeom>
            <a:avLst/>
            <a:gdLst/>
            <a:ahLst/>
            <a:cxnLst/>
            <a:rect r="r" b="b" t="t" l="l"/>
            <a:pathLst>
              <a:path h="218640" w="448450">
                <a:moveTo>
                  <a:pt x="0" y="0"/>
                </a:moveTo>
                <a:lnTo>
                  <a:pt x="448450" y="0"/>
                </a:lnTo>
                <a:lnTo>
                  <a:pt x="448450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77482" y="1470330"/>
            <a:ext cx="951815" cy="23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6"/>
              </a:lnSpc>
            </a:pPr>
            <a:r>
              <a:rPr lang="en-US" b="true" sz="1412" spc="-28">
                <a:solidFill>
                  <a:srgbClr val="0096D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Amazon S3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1320622" y="1497682"/>
            <a:ext cx="218756" cy="218640"/>
          </a:xfrm>
          <a:custGeom>
            <a:avLst/>
            <a:gdLst/>
            <a:ahLst/>
            <a:cxnLst/>
            <a:rect r="r" b="b" t="t" l="l"/>
            <a:pathLst>
              <a:path h="218640" w="218756">
                <a:moveTo>
                  <a:pt x="0" y="0"/>
                </a:moveTo>
                <a:lnTo>
                  <a:pt x="218756" y="0"/>
                </a:lnTo>
                <a:lnTo>
                  <a:pt x="218756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673187" y="1470576"/>
            <a:ext cx="684431" cy="239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7"/>
              </a:lnSpc>
            </a:pPr>
            <a:r>
              <a:rPr lang="en-US" b="true" sz="1426" spc="-28">
                <a:solidFill>
                  <a:srgbClr val="0096D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Buckets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2403464" y="1497682"/>
            <a:ext cx="229694" cy="218640"/>
          </a:xfrm>
          <a:custGeom>
            <a:avLst/>
            <a:gdLst/>
            <a:ahLst/>
            <a:cxnLst/>
            <a:rect r="r" b="b" t="t" l="l"/>
            <a:pathLst>
              <a:path h="218640" w="229694">
                <a:moveTo>
                  <a:pt x="0" y="0"/>
                </a:moveTo>
                <a:lnTo>
                  <a:pt x="229694" y="0"/>
                </a:lnTo>
                <a:lnTo>
                  <a:pt x="229694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792049" y="1470576"/>
            <a:ext cx="1312321" cy="239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7"/>
              </a:lnSpc>
            </a:pPr>
            <a:r>
              <a:rPr lang="en-US" b="true" sz="1426" spc="-28">
                <a:solidFill>
                  <a:srgbClr val="F4F4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demo-nhom-s3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836031" y="1924065"/>
            <a:ext cx="2234398" cy="413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3"/>
              </a:lnSpc>
            </a:pPr>
            <a:r>
              <a:rPr lang="en-US" b="true" sz="2390" spc="-47">
                <a:solidFill>
                  <a:srgbClr val="F4F4F4"/>
                </a:solidFill>
                <a:latin typeface="Inter Bold"/>
                <a:ea typeface="Inter Bold"/>
                <a:cs typeface="Inter Bold"/>
                <a:sym typeface="Inter Bold"/>
              </a:rPr>
              <a:t>demo-nhom-s3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0664354" y="2569017"/>
            <a:ext cx="1312536" cy="655919"/>
          </a:xfrm>
          <a:custGeom>
            <a:avLst/>
            <a:gdLst/>
            <a:ahLst/>
            <a:cxnLst/>
            <a:rect r="r" b="b" t="t" l="l"/>
            <a:pathLst>
              <a:path h="655919" w="1312536">
                <a:moveTo>
                  <a:pt x="0" y="0"/>
                </a:moveTo>
                <a:lnTo>
                  <a:pt x="1312536" y="0"/>
                </a:lnTo>
                <a:lnTo>
                  <a:pt x="131253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570574" y="2995365"/>
            <a:ext cx="8509608" cy="229572"/>
          </a:xfrm>
          <a:custGeom>
            <a:avLst/>
            <a:gdLst/>
            <a:ahLst/>
            <a:cxnLst/>
            <a:rect r="r" b="b" t="t" l="l"/>
            <a:pathLst>
              <a:path h="229572" w="8509608">
                <a:moveTo>
                  <a:pt x="0" y="0"/>
                </a:moveTo>
                <a:lnTo>
                  <a:pt x="8509608" y="0"/>
                </a:lnTo>
                <a:lnTo>
                  <a:pt x="8509608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570574" y="2995365"/>
            <a:ext cx="8290852" cy="3869923"/>
          </a:xfrm>
          <a:custGeom>
            <a:avLst/>
            <a:gdLst/>
            <a:ahLst/>
            <a:cxnLst/>
            <a:rect r="r" b="b" t="t" l="l"/>
            <a:pathLst>
              <a:path h="3869923" w="8290852">
                <a:moveTo>
                  <a:pt x="0" y="0"/>
                </a:moveTo>
                <a:lnTo>
                  <a:pt x="8290852" y="0"/>
                </a:lnTo>
                <a:lnTo>
                  <a:pt x="8290852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789330" y="5783021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3923818" y="3848060"/>
            <a:ext cx="229694" cy="2798589"/>
          </a:xfrm>
          <a:custGeom>
            <a:avLst/>
            <a:gdLst/>
            <a:ahLst/>
            <a:cxnLst/>
            <a:rect r="r" b="b" t="t" l="l"/>
            <a:pathLst>
              <a:path h="2798589" w="229694">
                <a:moveTo>
                  <a:pt x="0" y="0"/>
                </a:moveTo>
                <a:lnTo>
                  <a:pt x="229694" y="0"/>
                </a:lnTo>
                <a:lnTo>
                  <a:pt x="229694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9570574" y="7280704"/>
            <a:ext cx="8290852" cy="229572"/>
          </a:xfrm>
          <a:custGeom>
            <a:avLst/>
            <a:gdLst/>
            <a:ahLst/>
            <a:cxnLst/>
            <a:rect r="r" b="b" t="t" l="l"/>
            <a:pathLst>
              <a:path h="229572" w="8290852">
                <a:moveTo>
                  <a:pt x="0" y="0"/>
                </a:moveTo>
                <a:lnTo>
                  <a:pt x="8290852" y="0"/>
                </a:lnTo>
                <a:lnTo>
                  <a:pt x="8290852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9570574" y="6854356"/>
            <a:ext cx="1323474" cy="655919"/>
          </a:xfrm>
          <a:custGeom>
            <a:avLst/>
            <a:gdLst/>
            <a:ahLst/>
            <a:cxnLst/>
            <a:rect r="r" b="b" t="t" l="l"/>
            <a:pathLst>
              <a:path h="655919" w="1323474">
                <a:moveTo>
                  <a:pt x="0" y="0"/>
                </a:moveTo>
                <a:lnTo>
                  <a:pt x="1323474" y="0"/>
                </a:lnTo>
                <a:lnTo>
                  <a:pt x="132347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9570574" y="7280704"/>
            <a:ext cx="1323474" cy="229572"/>
          </a:xfrm>
          <a:custGeom>
            <a:avLst/>
            <a:gdLst/>
            <a:ahLst/>
            <a:cxnLst/>
            <a:rect r="r" b="b" t="t" l="l"/>
            <a:pathLst>
              <a:path h="229572" w="1323474">
                <a:moveTo>
                  <a:pt x="0" y="0"/>
                </a:moveTo>
                <a:lnTo>
                  <a:pt x="1323474" y="0"/>
                </a:lnTo>
                <a:lnTo>
                  <a:pt x="132347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9845837" y="7681032"/>
            <a:ext cx="1253833" cy="321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7"/>
              </a:lnSpc>
            </a:pPr>
            <a:r>
              <a:rPr lang="en-US" b="true" sz="1896" spc="-37">
                <a:solidFill>
                  <a:srgbClr val="F4F4F4"/>
                </a:solidFill>
                <a:latin typeface="Inter Bold"/>
                <a:ea typeface="Inter Bold"/>
                <a:cs typeface="Inter Bold"/>
                <a:sym typeface="Inter Bold"/>
              </a:rPr>
              <a:t>Objects </a:t>
            </a:r>
            <a:r>
              <a:rPr lang="en-US" b="true" sz="1896" spc="-37">
                <a:solidFill>
                  <a:srgbClr val="949494"/>
                </a:solidFill>
                <a:latin typeface="Inter Bold"/>
                <a:ea typeface="Inter Bold"/>
                <a:cs typeface="Inter Bold"/>
                <a:sym typeface="Inter Bold"/>
              </a:rPr>
              <a:t>(1)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9789330" y="8133399"/>
            <a:ext cx="448450" cy="448211"/>
          </a:xfrm>
          <a:custGeom>
            <a:avLst/>
            <a:gdLst/>
            <a:ahLst/>
            <a:cxnLst/>
            <a:rect r="r" b="b" t="t" l="l"/>
            <a:pathLst>
              <a:path h="448211" w="448450">
                <a:moveTo>
                  <a:pt x="0" y="0"/>
                </a:moveTo>
                <a:lnTo>
                  <a:pt x="448450" y="0"/>
                </a:lnTo>
                <a:lnTo>
                  <a:pt x="448450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9789330" y="8570678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0226842" y="8570678"/>
            <a:ext cx="229694" cy="437279"/>
          </a:xfrm>
          <a:custGeom>
            <a:avLst/>
            <a:gdLst/>
            <a:ahLst/>
            <a:cxnLst/>
            <a:rect r="r" b="b" t="t" l="l"/>
            <a:pathLst>
              <a:path h="437279" w="229694">
                <a:moveTo>
                  <a:pt x="0" y="0"/>
                </a:moveTo>
                <a:lnTo>
                  <a:pt x="229694" y="0"/>
                </a:lnTo>
                <a:lnTo>
                  <a:pt x="22969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9570574" y="8570678"/>
            <a:ext cx="8290852" cy="218640"/>
          </a:xfrm>
          <a:custGeom>
            <a:avLst/>
            <a:gdLst/>
            <a:ahLst/>
            <a:cxnLst/>
            <a:rect r="r" b="b" t="t" l="l"/>
            <a:pathLst>
              <a:path h="218640" w="8290852">
                <a:moveTo>
                  <a:pt x="0" y="0"/>
                </a:moveTo>
                <a:lnTo>
                  <a:pt x="8290852" y="0"/>
                </a:lnTo>
                <a:lnTo>
                  <a:pt x="8290852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9570574" y="7280704"/>
            <a:ext cx="8290852" cy="1934962"/>
          </a:xfrm>
          <a:custGeom>
            <a:avLst/>
            <a:gdLst/>
            <a:ahLst/>
            <a:cxnLst/>
            <a:rect r="r" b="b" t="t" l="l"/>
            <a:pathLst>
              <a:path h="1934962" w="8290852">
                <a:moveTo>
                  <a:pt x="0" y="0"/>
                </a:moveTo>
                <a:lnTo>
                  <a:pt x="8290852" y="0"/>
                </a:lnTo>
                <a:lnTo>
                  <a:pt x="8290852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2151788" y="7043087"/>
            <a:ext cx="1044662" cy="239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7"/>
              </a:lnSpc>
            </a:pPr>
            <a:r>
              <a:rPr lang="en-US" b="true" sz="1426" spc="-28">
                <a:solidFill>
                  <a:srgbClr val="94949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Permissions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575648" y="7043087"/>
            <a:ext cx="640683" cy="239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7"/>
              </a:lnSpc>
            </a:pPr>
            <a:r>
              <a:rPr lang="en-US" b="true" sz="1426" spc="-28">
                <a:solidFill>
                  <a:srgbClr val="94949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Metrics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115444" y="7042347"/>
            <a:ext cx="1157113" cy="240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3"/>
              </a:lnSpc>
            </a:pPr>
            <a:r>
              <a:rPr lang="en-US" b="true" sz="1383" spc="-27">
                <a:solidFill>
                  <a:srgbClr val="94949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Access Points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825279" y="4196589"/>
            <a:ext cx="3309600" cy="239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7"/>
              </a:lnSpc>
            </a:pPr>
            <a:r>
              <a:rPr lang="en-US" b="true" sz="1426" spc="-28">
                <a:solidFill>
                  <a:srgbClr val="F4F4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Asia Pacific (Singapore) ap-southeast-1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354656" y="5265908"/>
            <a:ext cx="3107021" cy="239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7"/>
              </a:lnSpc>
            </a:pPr>
            <a:r>
              <a:rPr lang="en-US" b="true" sz="1426" spc="-28">
                <a:solidFill>
                  <a:srgbClr val="F4F4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Block public access (bucket settings)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152969" y="5903721"/>
            <a:ext cx="2687496" cy="278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4"/>
              </a:lnSpc>
            </a:pPr>
            <a:r>
              <a:rPr lang="en-US" b="true" sz="1602" spc="-32">
                <a:solidFill>
                  <a:srgbClr val="F4F4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arn:aws:s3:::demo-nhom-s3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838544" y="3358571"/>
            <a:ext cx="1983075" cy="321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7"/>
              </a:lnSpc>
            </a:pPr>
            <a:r>
              <a:rPr lang="en-US" b="true" sz="1896" spc="-37">
                <a:solidFill>
                  <a:srgbClr val="F4F4F4"/>
                </a:solidFill>
                <a:latin typeface="Inter Bold"/>
                <a:ea typeface="Inter Bold"/>
                <a:cs typeface="Inter Bold"/>
                <a:sym typeface="Inter Bold"/>
              </a:rPr>
              <a:t>Bucket overview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361854" y="4882618"/>
            <a:ext cx="2387293" cy="232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1"/>
              </a:lnSpc>
            </a:pPr>
            <a:r>
              <a:rPr lang="en-US" b="true" sz="1354" spc="-27">
                <a:solidFill>
                  <a:srgbClr val="F4F4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AWS managed keys (SSE-S3)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366354" y="4588170"/>
            <a:ext cx="1937295" cy="239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7"/>
              </a:lnSpc>
            </a:pPr>
            <a:r>
              <a:rPr lang="en-US" b="true" sz="1426" spc="-28">
                <a:solidFill>
                  <a:srgbClr val="F4F4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Server-side encryption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365626" y="6274985"/>
            <a:ext cx="2010090" cy="239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7"/>
              </a:lnSpc>
            </a:pPr>
            <a:r>
              <a:rPr lang="en-US" b="true" sz="1426" spc="-28">
                <a:solidFill>
                  <a:srgbClr val="F4F4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Bucket owner enforced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4370177" y="5973768"/>
            <a:ext cx="1554922" cy="239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7"/>
              </a:lnSpc>
            </a:pPr>
            <a:r>
              <a:rPr lang="en-US" b="true" sz="1426" spc="-28">
                <a:solidFill>
                  <a:srgbClr val="F4F4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Object Ownership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843972" y="5070117"/>
            <a:ext cx="1440291" cy="239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7"/>
              </a:lnSpc>
            </a:pPr>
            <a:r>
              <a:rPr lang="en-US" b="true" sz="1426" spc="-28">
                <a:solidFill>
                  <a:srgbClr val="F4F4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General purpose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565210" y="8714841"/>
            <a:ext cx="1646955" cy="239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7"/>
              </a:lnSpc>
            </a:pPr>
            <a:r>
              <a:rPr lang="en-US" b="true" sz="1426" spc="-28">
                <a:solidFill>
                  <a:srgbClr val="0096D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ke-hoach-nhom.txt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534922" y="2690504"/>
            <a:ext cx="1153943" cy="239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7"/>
              </a:lnSpc>
            </a:pPr>
            <a:r>
              <a:rPr lang="en-US" b="true" sz="1426" spc="-28">
                <a:solidFill>
                  <a:srgbClr val="94949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Management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588500" y="7043087"/>
            <a:ext cx="1153943" cy="239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7"/>
              </a:lnSpc>
            </a:pPr>
            <a:r>
              <a:rPr lang="en-US" b="true" sz="1426" spc="-28">
                <a:solidFill>
                  <a:srgbClr val="94949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Management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848143" y="4753840"/>
            <a:ext cx="1023151" cy="239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7"/>
              </a:lnSpc>
            </a:pPr>
            <a:r>
              <a:rPr lang="en-US" b="true" sz="1426" spc="-28">
                <a:solidFill>
                  <a:srgbClr val="94949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Bucket type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374144" y="3895125"/>
            <a:ext cx="1158293" cy="23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6"/>
              </a:lnSpc>
            </a:pPr>
            <a:r>
              <a:rPr lang="en-US" b="true" sz="1412" spc="-28">
                <a:solidFill>
                  <a:srgbClr val="94949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S3 Versioning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6035077" y="2689764"/>
            <a:ext cx="1157113" cy="240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3"/>
              </a:lnSpc>
            </a:pPr>
            <a:r>
              <a:rPr lang="en-US" b="true" sz="1383" spc="-27">
                <a:solidFill>
                  <a:srgbClr val="94949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Access Points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5767028" y="8247955"/>
            <a:ext cx="1172997" cy="239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7"/>
              </a:lnSpc>
            </a:pPr>
            <a:r>
              <a:rPr lang="en-US" b="true" sz="1426" spc="-28">
                <a:solidFill>
                  <a:srgbClr val="94949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Last modified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848134" y="3894631"/>
            <a:ext cx="1024061" cy="240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3"/>
              </a:lnSpc>
            </a:pPr>
            <a:r>
              <a:rPr lang="en-US" b="true" sz="1383" spc="-27">
                <a:solidFill>
                  <a:srgbClr val="94949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AWS Region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0894181" y="7043087"/>
            <a:ext cx="896720" cy="239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7"/>
              </a:lnSpc>
            </a:pPr>
            <a:r>
              <a:rPr lang="en-US" b="true" sz="1426" spc="-28">
                <a:solidFill>
                  <a:srgbClr val="94949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Properties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2124999" y="2690504"/>
            <a:ext cx="1044662" cy="239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7"/>
              </a:lnSpc>
            </a:pPr>
            <a:r>
              <a:rPr lang="en-US" b="true" sz="1426" spc="-28">
                <a:solidFill>
                  <a:srgbClr val="94949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Permissions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0894181" y="2690504"/>
            <a:ext cx="896720" cy="239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7"/>
              </a:lnSpc>
            </a:pPr>
            <a:r>
              <a:rPr lang="en-US" b="true" sz="1426" spc="-28">
                <a:solidFill>
                  <a:srgbClr val="0096D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Properties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848192" y="5597247"/>
            <a:ext cx="1018252" cy="239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7"/>
              </a:lnSpc>
            </a:pPr>
            <a:r>
              <a:rPr lang="en-US" b="true" sz="1426" spc="-28">
                <a:solidFill>
                  <a:srgbClr val="94949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Bucket ARN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851863" y="7043087"/>
            <a:ext cx="651212" cy="239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7"/>
              </a:lnSpc>
            </a:pPr>
            <a:r>
              <a:rPr lang="en-US" b="true" sz="1426" spc="-28">
                <a:solidFill>
                  <a:srgbClr val="0096D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Objects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851863" y="2690504"/>
            <a:ext cx="651212" cy="239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7"/>
              </a:lnSpc>
            </a:pPr>
            <a:r>
              <a:rPr lang="en-US" b="true" sz="1426" spc="-28">
                <a:solidFill>
                  <a:srgbClr val="94949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Objects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3522070" y="2690504"/>
            <a:ext cx="640683" cy="239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7"/>
              </a:lnSpc>
            </a:pPr>
            <a:r>
              <a:rPr lang="en-US" b="true" sz="1426" spc="-28">
                <a:solidFill>
                  <a:srgbClr val="94949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Metrics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4378787" y="4196589"/>
            <a:ext cx="693961" cy="239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7"/>
              </a:lnSpc>
            </a:pPr>
            <a:r>
              <a:rPr lang="en-US" b="true" sz="1426" spc="-28">
                <a:solidFill>
                  <a:srgbClr val="0096D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Enabled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3577930" y="8247214"/>
            <a:ext cx="412420" cy="240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3"/>
              </a:lnSpc>
            </a:pPr>
            <a:r>
              <a:rPr lang="en-US" b="true" sz="1383" spc="-27">
                <a:solidFill>
                  <a:srgbClr val="94949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Type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0228192" y="8247955"/>
            <a:ext cx="522970" cy="239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7"/>
              </a:lnSpc>
            </a:pPr>
            <a:r>
              <a:rPr lang="en-US" b="true" sz="1426" spc="-28">
                <a:solidFill>
                  <a:srgbClr val="94949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Name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2399930" y="2103132"/>
            <a:ext cx="340626" cy="239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7"/>
              </a:lnSpc>
            </a:pPr>
            <a:r>
              <a:rPr lang="en-US" b="true" sz="1426" spc="-28">
                <a:solidFill>
                  <a:srgbClr val="0096D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Info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3579672" y="8714841"/>
            <a:ext cx="238247" cy="239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7"/>
              </a:lnSpc>
            </a:pPr>
            <a:r>
              <a:rPr lang="en-US" b="true" sz="1426" spc="-28">
                <a:solidFill>
                  <a:srgbClr val="F4F4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txt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4383157" y="5597247"/>
            <a:ext cx="256947" cy="239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7"/>
              </a:lnSpc>
            </a:pPr>
            <a:r>
              <a:rPr lang="en-US" b="true" sz="1426" spc="-28">
                <a:solidFill>
                  <a:srgbClr val="0096D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On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" t="0" r="-26" b="0"/>
            </a:stretch>
          </a:blipFill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7394" y="831142"/>
            <a:ext cx="14948921" cy="73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8"/>
              </a:lnSpc>
            </a:pPr>
            <a:r>
              <a:rPr lang="en-US" sz="5568" spc="-111" b="true">
                <a:solidFill>
                  <a:srgbClr val="F4F4F4"/>
                </a:solidFill>
                <a:latin typeface="Inter Bold"/>
                <a:ea typeface="Inter Bold"/>
                <a:cs typeface="Inter Bold"/>
                <a:sym typeface="Inter Bold"/>
              </a:rPr>
              <a:t>Demo 2: Phục hồi bản đầu mà vẫn giữ lịch sử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98632" y="1522604"/>
            <a:ext cx="7825067" cy="754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26"/>
              </a:lnSpc>
            </a:pPr>
            <a:r>
              <a:rPr lang="en-US" sz="3955" spc="-38" b="true">
                <a:solidFill>
                  <a:srgbClr val="02CAFC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Upload cùng key: v1 → v2 → v3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64086" y="2776725"/>
            <a:ext cx="1104718" cy="1300906"/>
          </a:xfrm>
          <a:custGeom>
            <a:avLst/>
            <a:gdLst/>
            <a:ahLst/>
            <a:cxnLst/>
            <a:rect r="r" b="b" t="t" l="l"/>
            <a:pathLst>
              <a:path h="1300906" w="1104718">
                <a:moveTo>
                  <a:pt x="0" y="0"/>
                </a:moveTo>
                <a:lnTo>
                  <a:pt x="1104718" y="0"/>
                </a:lnTo>
                <a:lnTo>
                  <a:pt x="110471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26154" y="3086784"/>
            <a:ext cx="445733" cy="640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42"/>
              </a:lnSpc>
            </a:pPr>
            <a:r>
              <a:rPr lang="en-US" b="true" sz="3339" spc="-32">
                <a:solidFill>
                  <a:srgbClr val="F4F4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v1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957866" y="3214004"/>
            <a:ext cx="1968804" cy="437279"/>
          </a:xfrm>
          <a:custGeom>
            <a:avLst/>
            <a:gdLst/>
            <a:ahLst/>
            <a:cxnLst/>
            <a:rect r="r" b="b" t="t" l="l"/>
            <a:pathLst>
              <a:path h="437279" w="1968804">
                <a:moveTo>
                  <a:pt x="0" y="0"/>
                </a:moveTo>
                <a:lnTo>
                  <a:pt x="1968804" y="0"/>
                </a:lnTo>
                <a:lnTo>
                  <a:pt x="1968804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915732" y="2776725"/>
            <a:ext cx="1312536" cy="1300906"/>
          </a:xfrm>
          <a:custGeom>
            <a:avLst/>
            <a:gdLst/>
            <a:ahLst/>
            <a:cxnLst/>
            <a:rect r="r" b="b" t="t" l="l"/>
            <a:pathLst>
              <a:path h="1300906" w="1312536">
                <a:moveTo>
                  <a:pt x="0" y="0"/>
                </a:moveTo>
                <a:lnTo>
                  <a:pt x="1312536" y="0"/>
                </a:lnTo>
                <a:lnTo>
                  <a:pt x="131253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234830" y="3086784"/>
            <a:ext cx="536287" cy="640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42"/>
              </a:lnSpc>
            </a:pPr>
            <a:r>
              <a:rPr lang="en-US" b="true" sz="3339" spc="-32">
                <a:solidFill>
                  <a:srgbClr val="F4F4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v2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4998574" y="3214004"/>
            <a:ext cx="1968804" cy="437279"/>
          </a:xfrm>
          <a:custGeom>
            <a:avLst/>
            <a:gdLst/>
            <a:ahLst/>
            <a:cxnLst/>
            <a:rect r="r" b="b" t="t" l="l"/>
            <a:pathLst>
              <a:path h="437279" w="1968804">
                <a:moveTo>
                  <a:pt x="0" y="0"/>
                </a:moveTo>
                <a:lnTo>
                  <a:pt x="1968804" y="0"/>
                </a:lnTo>
                <a:lnTo>
                  <a:pt x="1968804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956440" y="2776725"/>
            <a:ext cx="1323474" cy="1300906"/>
          </a:xfrm>
          <a:custGeom>
            <a:avLst/>
            <a:gdLst/>
            <a:ahLst/>
            <a:cxnLst/>
            <a:rect r="r" b="b" t="t" l="l"/>
            <a:pathLst>
              <a:path h="1300906" w="1323474">
                <a:moveTo>
                  <a:pt x="0" y="0"/>
                </a:moveTo>
                <a:lnTo>
                  <a:pt x="1323474" y="0"/>
                </a:lnTo>
                <a:lnTo>
                  <a:pt x="132347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258368" y="3086784"/>
            <a:ext cx="543540" cy="640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42"/>
              </a:lnSpc>
            </a:pPr>
            <a:r>
              <a:rPr lang="en-US" b="true" sz="3339" spc="-32">
                <a:solidFill>
                  <a:srgbClr val="F4F4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v3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15459" y="4544369"/>
            <a:ext cx="7390066" cy="992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3403" indent="-311702" lvl="1">
              <a:lnSpc>
                <a:spcPts val="4044"/>
              </a:lnSpc>
              <a:buFont typeface="Arial"/>
              <a:buChar char="•"/>
            </a:pPr>
            <a:r>
              <a:rPr lang="en-US" sz="2888" spc="-57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Upload 'samples/v2/ke-hoach-nhom.txt' cùng key.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23781" y="5809479"/>
            <a:ext cx="6557884" cy="493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3403" indent="-311702" lvl="1">
              <a:lnSpc>
                <a:spcPts val="4044"/>
              </a:lnSpc>
              <a:buFont typeface="Arial"/>
              <a:buChar char="•"/>
            </a:pPr>
            <a:r>
              <a:rPr lang="en-US" sz="2888" spc="-57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Xem hai version và đọc nội dung v2.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08522" y="7375807"/>
            <a:ext cx="8083702" cy="992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3403" indent="-311702" lvl="1">
              <a:lnSpc>
                <a:spcPts val="4044"/>
              </a:lnSpc>
              <a:buFont typeface="Arial"/>
              <a:buChar char="•"/>
            </a:pPr>
            <a:r>
              <a:rPr lang="en-US" sz="2888" spc="-57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Upload bản vừa phục hồi cùng key để tạo v3; bản hiện tại có nội dung v1, lịch sử vẫn còn.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8925244" y="2776725"/>
            <a:ext cx="8936182" cy="5159898"/>
          </a:xfrm>
          <a:custGeom>
            <a:avLst/>
            <a:gdLst/>
            <a:ahLst/>
            <a:cxnLst/>
            <a:rect r="r" b="b" t="t" l="l"/>
            <a:pathLst>
              <a:path h="5159898" w="8936182">
                <a:moveTo>
                  <a:pt x="0" y="0"/>
                </a:moveTo>
                <a:lnTo>
                  <a:pt x="8936182" y="0"/>
                </a:lnTo>
                <a:lnTo>
                  <a:pt x="8936182" y="5159898"/>
                </a:lnTo>
                <a:lnTo>
                  <a:pt x="0" y="515989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123142" y="3097198"/>
            <a:ext cx="3871698" cy="265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599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KHÓ TẠI LIỆU NHƠM - BAN DỤNG V1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086925" y="3654443"/>
            <a:ext cx="7493412" cy="1068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F4F4F4"/>
                </a:solidFill>
                <a:latin typeface="Inter Medium"/>
                <a:ea typeface="Inter Medium"/>
                <a:cs typeface="Inter Medium"/>
                <a:sym typeface="Inter Medium"/>
              </a:rPr>
              <a:t>Chu de: Tìm hieu Amazon S3</a:t>
            </a:r>
          </a:p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F4F4F4"/>
                </a:solidFill>
                <a:latin typeface="Inter Medium"/>
                <a:ea typeface="Inter Medium"/>
                <a:cs typeface="Inter Medium"/>
                <a:sym typeface="Inter Medium"/>
              </a:rPr>
              <a:t>Lịch demo: Thu Sau, 14:00</a:t>
            </a:r>
          </a:p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F4F4F4"/>
                </a:solidFill>
                <a:latin typeface="Inter Medium"/>
                <a:ea typeface="Inter Medium"/>
                <a:cs typeface="Inter Medium"/>
                <a:sym typeface="Inter Medium"/>
              </a:rPr>
              <a:t>Dịa điểm: Phong A101</a:t>
            </a:r>
          </a:p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F4F4F4"/>
                </a:solidFill>
                <a:latin typeface="Inter Medium"/>
                <a:ea typeface="Inter Medium"/>
                <a:cs typeface="Inter Medium"/>
                <a:sym typeface="Inter Medium"/>
              </a:rPr>
              <a:t>Nói dùng: Tại tẹp, khơi phục phiên ban, chia se co thoi han.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077269" y="5130394"/>
            <a:ext cx="8459061" cy="534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5"/>
              </a:lnSpc>
            </a:pPr>
            <a:r>
              <a:rPr lang="en-US" sz="1546" b="true">
                <a:solidFill>
                  <a:srgbClr val="F4F4F4"/>
                </a:solidFill>
                <a:latin typeface="Inter Medium"/>
                <a:ea typeface="Inter Medium"/>
                <a:cs typeface="Inter Medium"/>
                <a:sym typeface="Inter Medium"/>
              </a:rPr>
              <a:t>Day la du lieu gia lap de thuc hanh, khong co thông tin ca nhan.</a:t>
            </a:r>
          </a:p>
          <a:p>
            <a:pPr algn="l">
              <a:lnSpc>
                <a:spcPts val="2165"/>
              </a:lnSpc>
            </a:pPr>
            <a:r>
              <a:rPr lang="en-US" sz="1546" b="true">
                <a:solidFill>
                  <a:srgbClr val="F4F4F4"/>
                </a:solidFill>
                <a:latin typeface="Inter Medium"/>
                <a:ea typeface="Inter Medium"/>
                <a:cs typeface="Inter Medium"/>
                <a:sym typeface="Inter Medium"/>
              </a:rPr>
              <a:t>Khi khơi phuc thanh cong, can thay lai dông: Lịch demo: Thu Sau, 14:00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96368" y="9428320"/>
            <a:ext cx="8051460" cy="335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6"/>
              </a:lnSpc>
            </a:pPr>
            <a:r>
              <a:rPr lang="en-US" sz="2003">
                <a:solidFill>
                  <a:srgbClr val="F4F4F4">
                    <a:alpha val="6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v1/v2/v3 là cách gọi trong bài, không phải Version ID thật của AWS.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961477" y="9428320"/>
            <a:ext cx="7761557" cy="335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6"/>
              </a:lnSpc>
            </a:pPr>
            <a:r>
              <a:rPr lang="en-US" sz="2003">
                <a:solidFill>
                  <a:srgbClr val="F4F4F4">
                    <a:alpha val="6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AWS — Restoring previous versions; AWS — Uploading objects.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16416" y="6592643"/>
            <a:ext cx="7294357" cy="493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3403" indent="-311702" lvl="1">
              <a:lnSpc>
                <a:spcPts val="4044"/>
              </a:lnSpc>
              <a:buFont typeface="Arial"/>
              <a:buChar char="•"/>
            </a:pPr>
            <a:r>
              <a:rPr lang="en-US" sz="2888" spc="-57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Chọn đúng v1 trên S3, tải về và kiểm tra.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968804" cy="2153601"/>
          </a:xfrm>
          <a:custGeom>
            <a:avLst/>
            <a:gdLst/>
            <a:ahLst/>
            <a:cxnLst/>
            <a:rect r="r" b="b" t="t" l="l"/>
            <a:pathLst>
              <a:path h="2153601" w="1968804">
                <a:moveTo>
                  <a:pt x="0" y="0"/>
                </a:moveTo>
                <a:lnTo>
                  <a:pt x="1968804" y="0"/>
                </a:lnTo>
                <a:lnTo>
                  <a:pt x="1968804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580086" y="0"/>
            <a:ext cx="3707914" cy="5148966"/>
          </a:xfrm>
          <a:custGeom>
            <a:avLst/>
            <a:gdLst/>
            <a:ahLst/>
            <a:cxnLst/>
            <a:rect r="r" b="b" t="t" l="l"/>
            <a:pathLst>
              <a:path h="5148966" w="3707914">
                <a:moveTo>
                  <a:pt x="0" y="0"/>
                </a:moveTo>
                <a:lnTo>
                  <a:pt x="3707914" y="0"/>
                </a:lnTo>
                <a:lnTo>
                  <a:pt x="3707914" y="5148966"/>
                </a:lnTo>
                <a:lnTo>
                  <a:pt x="0" y="5148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09795" y="798202"/>
            <a:ext cx="16708790" cy="820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10"/>
              </a:lnSpc>
            </a:pPr>
            <a:r>
              <a:rPr lang="en-US" sz="5829" spc="-233" b="true">
                <a:solidFill>
                  <a:srgbClr val="F4F4F4"/>
                </a:solidFill>
                <a:latin typeface="Inter Bold"/>
                <a:ea typeface="Inter Bold"/>
                <a:cs typeface="Inter Bold"/>
                <a:sym typeface="Inter Bold"/>
              </a:rPr>
              <a:t>Demo 3: Chia sẻ đọc tạm thời, bucket vẫn riêng tư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26574" y="2142670"/>
            <a:ext cx="5676718" cy="3432644"/>
          </a:xfrm>
          <a:custGeom>
            <a:avLst/>
            <a:gdLst/>
            <a:ahLst/>
            <a:cxnLst/>
            <a:rect r="r" b="b" t="t" l="l"/>
            <a:pathLst>
              <a:path h="3432644" w="5676718">
                <a:moveTo>
                  <a:pt x="0" y="0"/>
                </a:moveTo>
                <a:lnTo>
                  <a:pt x="5676718" y="0"/>
                </a:lnTo>
                <a:lnTo>
                  <a:pt x="5676718" y="3432643"/>
                </a:lnTo>
                <a:lnTo>
                  <a:pt x="0" y="34326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26574" y="2569017"/>
            <a:ext cx="5676718" cy="218640"/>
          </a:xfrm>
          <a:custGeom>
            <a:avLst/>
            <a:gdLst/>
            <a:ahLst/>
            <a:cxnLst/>
            <a:rect r="r" b="b" t="t" l="l"/>
            <a:pathLst>
              <a:path h="218640" w="5676718">
                <a:moveTo>
                  <a:pt x="0" y="0"/>
                </a:moveTo>
                <a:lnTo>
                  <a:pt x="5676718" y="0"/>
                </a:lnTo>
                <a:lnTo>
                  <a:pt x="5676718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15398" y="3175328"/>
            <a:ext cx="5432866" cy="998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2"/>
              </a:lnSpc>
            </a:pPr>
            <a:r>
              <a:rPr lang="en-US" sz="775" spc="-31" b="true">
                <a:solidFill>
                  <a:srgbClr val="22C2E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&lt;Error&gt;</a:t>
            </a:r>
          </a:p>
          <a:p>
            <a:pPr algn="l">
              <a:lnSpc>
                <a:spcPts val="1162"/>
              </a:lnSpc>
            </a:pPr>
            <a:r>
              <a:rPr lang="en-US" sz="775" spc="-3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  &lt;Code&gt;AccessDenied&lt;/Code&gt;</a:t>
            </a:r>
          </a:p>
          <a:p>
            <a:pPr algn="l">
              <a:lnSpc>
                <a:spcPts val="1162"/>
              </a:lnSpc>
            </a:pPr>
            <a:r>
              <a:rPr lang="en-US" sz="775" spc="-31" b="true">
                <a:solidFill>
                  <a:srgbClr val="22C2E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   &lt;Message</a:t>
            </a:r>
            <a:r>
              <a:rPr lang="en-US" sz="775" spc="-31">
                <a:solidFill>
                  <a:srgbClr val="22C2EB"/>
                </a:solidFill>
                <a:latin typeface="Inter"/>
                <a:ea typeface="Inter"/>
                <a:cs typeface="Inter"/>
                <a:sym typeface="Inter"/>
              </a:rPr>
              <a:t>&gt;Access Denied&lt;/Message&gt;</a:t>
            </a:r>
          </a:p>
          <a:p>
            <a:pPr algn="l">
              <a:lnSpc>
                <a:spcPts val="1162"/>
              </a:lnSpc>
            </a:pPr>
            <a:r>
              <a:rPr lang="en-US" sz="775" spc="-31" b="true">
                <a:solidFill>
                  <a:srgbClr val="22C2E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   &lt;RequestId&gt;RPZXAMR1XAE59RT&lt;/RequestId&gt;</a:t>
            </a:r>
          </a:p>
          <a:p>
            <a:pPr algn="l">
              <a:lnSpc>
                <a:spcPts val="1162"/>
              </a:lnSpc>
            </a:pPr>
            <a:r>
              <a:rPr lang="en-US" sz="775" spc="-31" b="true">
                <a:solidFill>
                  <a:srgbClr val="22C2E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   &lt;Hostedof\M010871817/0078001K/6086ec61R8E2&gt;</a:t>
            </a:r>
          </a:p>
          <a:p>
            <a:pPr algn="l">
              <a:lnSpc>
                <a:spcPts val="1162"/>
              </a:lnSpc>
            </a:pPr>
            <a:r>
              <a:rPr lang="en-US" sz="775" spc="-31" b="true">
                <a:solidFill>
                  <a:srgbClr val="22C2E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   &lt;HostId&gt;9VAp792j187/p1/r81V-FKXN0HZcaPBkBrv1o2cvNqjM1r=07j00RQW7b-1amccv55227u6R77Hq07ry/9od11d&gt;</a:t>
            </a:r>
          </a:p>
          <a:p>
            <a:pPr algn="l">
              <a:lnSpc>
                <a:spcPts val="1162"/>
              </a:lnSpc>
            </a:pPr>
            <a:r>
              <a:rPr lang="en-US" sz="775" spc="-31" b="true">
                <a:solidFill>
                  <a:srgbClr val="22C2E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&lt;/Error&gt;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092354" y="2142670"/>
            <a:ext cx="6103292" cy="3432644"/>
          </a:xfrm>
          <a:custGeom>
            <a:avLst/>
            <a:gdLst/>
            <a:ahLst/>
            <a:cxnLst/>
            <a:rect r="r" b="b" t="t" l="l"/>
            <a:pathLst>
              <a:path h="3432644" w="6103292">
                <a:moveTo>
                  <a:pt x="0" y="0"/>
                </a:moveTo>
                <a:lnTo>
                  <a:pt x="6103292" y="0"/>
                </a:lnTo>
                <a:lnTo>
                  <a:pt x="6103292" y="3432643"/>
                </a:lnTo>
                <a:lnTo>
                  <a:pt x="0" y="34326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377306" y="3148049"/>
            <a:ext cx="5206863" cy="1494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4" spc="-4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Chu de: Tìm hiểu Amazon S3</a:t>
            </a:r>
          </a:p>
          <a:p>
            <a:pPr algn="l">
              <a:lnSpc>
                <a:spcPts val="1687"/>
              </a:lnSpc>
            </a:pPr>
            <a:r>
              <a:rPr lang="en-US" sz="1124" spc="-4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Lịch demo: Thu Sau, 14:00</a:t>
            </a:r>
          </a:p>
          <a:p>
            <a:pPr algn="l">
              <a:lnSpc>
                <a:spcPts val="1687"/>
              </a:lnSpc>
            </a:pPr>
            <a:r>
              <a:rPr lang="en-US" sz="1124" spc="-4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Địa điểm: Phòng A101</a:t>
            </a:r>
          </a:p>
          <a:p>
            <a:pPr algn="l">
              <a:lnSpc>
                <a:spcPts val="1687"/>
              </a:lnSpc>
            </a:pPr>
            <a:r>
              <a:rPr lang="en-US" sz="1124" spc="-4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Nơi dung: Tải tệp, khơi phục phiên bản, chỉa sẽ cơ thơi hạn.</a:t>
            </a:r>
          </a:p>
          <a:p>
            <a:pPr algn="l">
              <a:lnSpc>
                <a:spcPts val="1687"/>
              </a:lnSpc>
            </a:pPr>
          </a:p>
          <a:p>
            <a:pPr algn="l">
              <a:lnSpc>
                <a:spcPts val="1687"/>
              </a:lnSpc>
            </a:pPr>
            <a:r>
              <a:rPr lang="en-US" sz="1124" spc="-4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Day là du liệu gia lạp de thuc hanh, khong co thông tin ca nhan.</a:t>
            </a:r>
          </a:p>
          <a:p>
            <a:pPr algn="l">
              <a:lnSpc>
                <a:spcPts val="1687"/>
              </a:lnSpc>
            </a:pPr>
            <a:r>
              <a:rPr lang="en-US" sz="1124" spc="-4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Khi khơi phuc thanh cong, can thay lại dòng: Lịch demo: Thu Sau, 14:00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2184708" y="2142670"/>
            <a:ext cx="5676718" cy="3432644"/>
          </a:xfrm>
          <a:custGeom>
            <a:avLst/>
            <a:gdLst/>
            <a:ahLst/>
            <a:cxnLst/>
            <a:rect r="r" b="b" t="t" l="l"/>
            <a:pathLst>
              <a:path h="3432644" w="5676718">
                <a:moveTo>
                  <a:pt x="0" y="0"/>
                </a:moveTo>
                <a:lnTo>
                  <a:pt x="5676718" y="0"/>
                </a:lnTo>
                <a:lnTo>
                  <a:pt x="5676718" y="3432643"/>
                </a:lnTo>
                <a:lnTo>
                  <a:pt x="0" y="34326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184708" y="2569017"/>
            <a:ext cx="5676718" cy="218640"/>
          </a:xfrm>
          <a:custGeom>
            <a:avLst/>
            <a:gdLst/>
            <a:ahLst/>
            <a:cxnLst/>
            <a:rect r="r" b="b" t="t" l="l"/>
            <a:pathLst>
              <a:path h="218640" w="5676718">
                <a:moveTo>
                  <a:pt x="0" y="0"/>
                </a:moveTo>
                <a:lnTo>
                  <a:pt x="5676718" y="0"/>
                </a:lnTo>
                <a:lnTo>
                  <a:pt x="5676718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429895" y="2992850"/>
            <a:ext cx="5380840" cy="1755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6"/>
              </a:lnSpc>
            </a:pPr>
            <a:r>
              <a:rPr lang="en-US" sz="1057" spc="-42" b="true">
                <a:solidFill>
                  <a:srgbClr val="22C2E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&lt;Error&gt;</a:t>
            </a:r>
          </a:p>
          <a:p>
            <a:pPr algn="l">
              <a:lnSpc>
                <a:spcPts val="1586"/>
              </a:lnSpc>
            </a:pPr>
            <a:r>
              <a:rPr lang="en-US" sz="1057" spc="-4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  &lt;Code&gt;AccessDenied&lt;/Code&gt;</a:t>
            </a:r>
          </a:p>
          <a:p>
            <a:pPr algn="l">
              <a:lnSpc>
                <a:spcPts val="1586"/>
              </a:lnSpc>
            </a:pPr>
            <a:r>
              <a:rPr lang="en-US" sz="1057" spc="-42" b="true">
                <a:solidFill>
                  <a:srgbClr val="22C2E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   &lt;Message</a:t>
            </a:r>
            <a:r>
              <a:rPr lang="en-US" sz="1057" spc="-42">
                <a:solidFill>
                  <a:srgbClr val="22C2EB"/>
                </a:solidFill>
                <a:latin typeface="Inter"/>
                <a:ea typeface="Inter"/>
                <a:cs typeface="Inter"/>
                <a:sym typeface="Inter"/>
              </a:rPr>
              <a:t>&gt;Request has expired</a:t>
            </a:r>
            <a:r>
              <a:rPr lang="en-US" sz="1057" spc="-42" b="true">
                <a:solidFill>
                  <a:srgbClr val="22C2E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/</a:t>
            </a:r>
            <a:r>
              <a:rPr lang="en-US" sz="1057" spc="-42">
                <a:solidFill>
                  <a:srgbClr val="22C2EB"/>
                </a:solidFill>
                <a:latin typeface="Inter"/>
                <a:ea typeface="Inter"/>
                <a:cs typeface="Inter"/>
                <a:sym typeface="Inter"/>
              </a:rPr>
              <a:t>Message</a:t>
            </a:r>
            <a:r>
              <a:rPr lang="en-US" sz="1057" spc="-42" b="true">
                <a:solidFill>
                  <a:srgbClr val="22C2E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&gt;</a:t>
            </a:r>
          </a:p>
          <a:p>
            <a:pPr algn="l">
              <a:lnSpc>
                <a:spcPts val="1586"/>
              </a:lnSpc>
            </a:pPr>
            <a:r>
              <a:rPr lang="en-US" sz="1057" spc="-42" b="true">
                <a:solidFill>
                  <a:srgbClr val="22C2E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   &lt;T_AmZ-Expires&gt;300&lt;/T_AmZ-Expires&gt;</a:t>
            </a:r>
          </a:p>
          <a:p>
            <a:pPr algn="l">
              <a:lnSpc>
                <a:spcPts val="1586"/>
              </a:lnSpc>
            </a:pPr>
            <a:r>
              <a:rPr lang="en-US" sz="1057" spc="-42" b="true">
                <a:solidFill>
                  <a:srgbClr val="22C2E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   &lt;Expires&gt;2026-10-28T16:52:40Z&lt;/Expres&gt;</a:t>
            </a:r>
          </a:p>
          <a:p>
            <a:pPr algn="l">
              <a:lnSpc>
                <a:spcPts val="1586"/>
              </a:lnSpc>
            </a:pPr>
            <a:r>
              <a:rPr lang="en-US" sz="1057" spc="-42" b="true">
                <a:solidFill>
                  <a:srgbClr val="22C2E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   &lt;ServerTime&gt;2026-10-28T16:54:24Z&lt;/ServerTime&gt;</a:t>
            </a:r>
          </a:p>
          <a:p>
            <a:pPr algn="l">
              <a:lnSpc>
                <a:spcPts val="1586"/>
              </a:lnSpc>
            </a:pPr>
            <a:r>
              <a:rPr lang="en-US" sz="1057" spc="-42" b="true">
                <a:solidFill>
                  <a:srgbClr val="22C2E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   &lt;RequestId&gt;FD0YJH59VGQYEBE&lt;/RequestId&gt;</a:t>
            </a:r>
          </a:p>
          <a:p>
            <a:pPr algn="l">
              <a:lnSpc>
                <a:spcPts val="1586"/>
              </a:lnSpc>
            </a:pPr>
            <a:r>
              <a:rPr lang="en-US" sz="1057" spc="-42" b="true">
                <a:solidFill>
                  <a:srgbClr val="22C2E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   &lt;HostId&gt;83801aUF6Q8L59Z0gH6HTRZ11qYANj7rvfFWMC10Tj1542C64TLT/wnj&lt;/Error&gt;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20757" y="5617756"/>
            <a:ext cx="4181301" cy="87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0"/>
              </a:lnSpc>
            </a:pPr>
            <a:r>
              <a:rPr lang="en-US" sz="2707" spc="-54" b="true">
                <a:solidFill>
                  <a:srgbClr val="F4F4F4"/>
                </a:solidFill>
                <a:latin typeface="Inter Medium"/>
                <a:ea typeface="Inter Medium"/>
                <a:cs typeface="Inter Medium"/>
                <a:sym typeface="Inter Medium"/>
              </a:rPr>
              <a:t>Không có quyền:</a:t>
            </a:r>
          </a:p>
          <a:p>
            <a:pPr algn="l">
              <a:lnSpc>
                <a:spcPts val="3790"/>
              </a:lnSpc>
            </a:pPr>
            <a:r>
              <a:rPr lang="en-US" sz="2707" spc="-54" b="true">
                <a:solidFill>
                  <a:srgbClr val="F4F4F4"/>
                </a:solidFill>
                <a:latin typeface="Inter Medium"/>
                <a:ea typeface="Inter Medium"/>
                <a:cs typeface="Inter Medium"/>
                <a:sym typeface="Inter Medium"/>
              </a:rPr>
              <a:t>Object URL thường bị chặn.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324169" y="5662939"/>
            <a:ext cx="5162796" cy="87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0"/>
              </a:lnSpc>
            </a:pPr>
            <a:r>
              <a:rPr lang="en-US" sz="2707" spc="-54" b="true">
                <a:solidFill>
                  <a:srgbClr val="F4F4F4"/>
                </a:solidFill>
                <a:latin typeface="Inter Medium"/>
                <a:ea typeface="Inter Medium"/>
                <a:cs typeface="Inter Medium"/>
                <a:sym typeface="Inter Medium"/>
              </a:rPr>
              <a:t>Được chia sẻ: presigned URL đọc, thời hạn 1 phút.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300484" y="5663112"/>
            <a:ext cx="4927386" cy="442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0"/>
              </a:lnSpc>
            </a:pPr>
            <a:r>
              <a:rPr lang="en-US" sz="2707" spc="-54" b="true">
                <a:solidFill>
                  <a:srgbClr val="F4F4F4"/>
                </a:solidFill>
                <a:latin typeface="Inter Medium"/>
                <a:ea typeface="Inter Medium"/>
                <a:cs typeface="Inter Medium"/>
                <a:sym typeface="Inter Medium"/>
              </a:rPr>
              <a:t>Hết hạn: request mới bị từ chối.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426574" y="7062064"/>
            <a:ext cx="7853340" cy="1519546"/>
          </a:xfrm>
          <a:custGeom>
            <a:avLst/>
            <a:gdLst/>
            <a:ahLst/>
            <a:cxnLst/>
            <a:rect r="r" b="b" t="t" l="l"/>
            <a:pathLst>
              <a:path h="1519546" w="7853340">
                <a:moveTo>
                  <a:pt x="0" y="0"/>
                </a:moveTo>
                <a:lnTo>
                  <a:pt x="7853340" y="0"/>
                </a:lnTo>
                <a:lnTo>
                  <a:pt x="7853340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96887" y="7365932"/>
            <a:ext cx="6751898" cy="75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26"/>
              </a:lnSpc>
            </a:pPr>
            <a:r>
              <a:rPr lang="en-US" sz="3955" spc="-38" b="true">
                <a:solidFill>
                  <a:srgbClr val="22C2EB"/>
                </a:solidFill>
                <a:latin typeface="Inter Bold"/>
                <a:ea typeface="Inter Bold"/>
                <a:cs typeface="Inter Bold"/>
                <a:sym typeface="Inter Bold"/>
              </a:rPr>
              <a:t>Block Public Access </a:t>
            </a:r>
            <a:r>
              <a:rPr lang="en-US" sz="3955" spc="-38" b="true">
                <a:solidFill>
                  <a:srgbClr val="F4F4F4"/>
                </a:solidFill>
                <a:latin typeface="Inter Bold"/>
                <a:ea typeface="Inter Bold"/>
                <a:cs typeface="Inter Bold"/>
                <a:sym typeface="Inter Bold"/>
              </a:rPr>
              <a:t>vẫn bật.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47101" y="9091311"/>
            <a:ext cx="6904705" cy="599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0"/>
              </a:lnSpc>
            </a:pPr>
            <a:r>
              <a:rPr lang="en-US" sz="1792" spc="-35" b="true">
                <a:solidFill>
                  <a:srgbClr val="8B8B8B"/>
                </a:solidFill>
                <a:latin typeface="Inter Medium"/>
                <a:ea typeface="Inter Medium"/>
                <a:cs typeface="Inter Medium"/>
                <a:sym typeface="Inter Medium"/>
              </a:rPr>
              <a:t>AWS — Download and upload objects with presigned URLs; AWS — Sharing objects with presigned URLs.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61849" y="2444270"/>
            <a:ext cx="5429914" cy="170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3"/>
              </a:lnSpc>
            </a:pPr>
            <a:r>
              <a:rPr lang="en-US" sz="949" spc="-14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This XML file does not appear to have any style information associated with it. The document below.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349037" y="2444270"/>
            <a:ext cx="5429914" cy="170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3"/>
              </a:lnSpc>
            </a:pPr>
            <a:r>
              <a:rPr lang="en-US" sz="949" spc="-14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This XML file does not appear to have any style information associated with it. The document below.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397518" y="2615073"/>
            <a:ext cx="3185721" cy="234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392" spc="-5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KHƠ TẠI LIỆU NHƠM - BẠN DŨNG VỊ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DAHZUakMsRA</dc:identifier>
  <dcterms:modified xsi:type="dcterms:W3CDTF">2011-08-01T06:04:30Z</dcterms:modified>
  <cp:revision>1</cp:revision>
  <dc:title>Amazon S3: Kho tài liệu nhóm</dc:title>
</cp:coreProperties>
</file>